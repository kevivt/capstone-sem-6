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e18c32d1894c01" /><Relationship Type="http://schemas.openxmlformats.org/officeDocument/2006/relationships/extended-properties" Target="/docProps/app.xml" Id="Re70434d7bfcd4ce4" /><Relationship Type="http://schemas.openxmlformats.org/officeDocument/2006/relationships/officeDocument" Target="/ppt/presentation.xml" Id="R67cb4654731243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7ee8f17822418e"/>
  </p:sldMasterIdLst>
  <p:notesMasterIdLst>
    <p:notesMasterId xmlns:r="http://schemas.openxmlformats.org/officeDocument/2006/relationships" r:id="R2ec5aa2739954e83"/>
  </p:notesMasterIdLst>
  <p:sldIdLst>
    <p:sldId xmlns:r="http://schemas.openxmlformats.org/officeDocument/2006/relationships" id="256" r:id="Rdef1114756d54989"/>
    <p:sldId xmlns:r="http://schemas.openxmlformats.org/officeDocument/2006/relationships" id="257" r:id="R28455ac757094f66"/>
    <p:sldId xmlns:r="http://schemas.openxmlformats.org/officeDocument/2006/relationships" id="258" r:id="R12934120fcfc4575"/>
    <p:sldId xmlns:r="http://schemas.openxmlformats.org/officeDocument/2006/relationships" id="259" r:id="Rdf483152c985455d"/>
    <p:sldId xmlns:r="http://schemas.openxmlformats.org/officeDocument/2006/relationships" id="260" r:id="Rb95c4604bea5439d"/>
    <p:sldId xmlns:r="http://schemas.openxmlformats.org/officeDocument/2006/relationships" id="261" r:id="Re18fbd37c86b41e9"/>
    <p:sldId xmlns:r="http://schemas.openxmlformats.org/officeDocument/2006/relationships" id="262" r:id="R15853b097fc74f27"/>
    <p:sldId xmlns:r="http://schemas.openxmlformats.org/officeDocument/2006/relationships" id="263" r:id="Rb071bc98bd764dc4"/>
    <p:sldId xmlns:r="http://schemas.openxmlformats.org/officeDocument/2006/relationships" id="264" r:id="Rafbbe3c609294f41"/>
    <p:sldId xmlns:r="http://schemas.openxmlformats.org/officeDocument/2006/relationships" id="265" r:id="Rde5d22ac53f34ec4"/>
    <p:sldId xmlns:r="http://schemas.openxmlformats.org/officeDocument/2006/relationships" id="266" r:id="R6a6273703bbf4934"/>
    <p:sldId xmlns:r="http://schemas.openxmlformats.org/officeDocument/2006/relationships" id="267" r:id="Rbe4fa3aa35f04d31"/>
    <p:sldId xmlns:r="http://schemas.openxmlformats.org/officeDocument/2006/relationships" id="268" r:id="Rda65b746eb6b4ffd"/>
    <p:sldId xmlns:r="http://schemas.openxmlformats.org/officeDocument/2006/relationships" id="269" r:id="Rf216bef8ef55465d"/>
    <p:sldId xmlns:r="http://schemas.openxmlformats.org/officeDocument/2006/relationships" id="270" r:id="R90e74e4a8aa64528"/>
    <p:sldId xmlns:r="http://schemas.openxmlformats.org/officeDocument/2006/relationships" id="271" r:id="Rb29ee115d3794296"/>
    <p:sldId xmlns:r="http://schemas.openxmlformats.org/officeDocument/2006/relationships" id="272" r:id="R1a50044f15764f0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7ee8f17822418e" /><Relationship Type="http://schemas.openxmlformats.org/officeDocument/2006/relationships/theme" Target="/ppt/theme/theme1.xml" Id="R9a1141bcd98b44f8" /><Relationship Type="http://schemas.openxmlformats.org/officeDocument/2006/relationships/notesMaster" Target="/ppt/notesMasters/notesMaster1.xml" Id="R2ec5aa2739954e83" /><Relationship Type="http://schemas.openxmlformats.org/officeDocument/2006/relationships/presProps" Target="/ppt/presProps.xml" Id="R1bef015439734274" /><Relationship Type="http://schemas.openxmlformats.org/officeDocument/2006/relationships/viewProps" Target="/ppt/viewProps.xml" Id="R7ecf122c71c8489c" /><Relationship Type="http://schemas.openxmlformats.org/officeDocument/2006/relationships/tableStyles" Target="/ppt/tableStyles.xml" Id="R3fec98258d334ec1" /><Relationship Type="http://schemas.openxmlformats.org/officeDocument/2006/relationships/slide" Target="/ppt/slides/slide1.xml" Id="Rdef1114756d54989" /><Relationship Type="http://schemas.openxmlformats.org/officeDocument/2006/relationships/slide" Target="/ppt/slides/slide2.xml" Id="R28455ac757094f66" /><Relationship Type="http://schemas.openxmlformats.org/officeDocument/2006/relationships/slide" Target="/ppt/slides/slide3.xml" Id="R12934120fcfc4575" /><Relationship Type="http://schemas.openxmlformats.org/officeDocument/2006/relationships/slide" Target="/ppt/slides/slide4.xml" Id="Rdf483152c985455d" /><Relationship Type="http://schemas.openxmlformats.org/officeDocument/2006/relationships/slide" Target="/ppt/slides/slide5.xml" Id="Rb95c4604bea5439d" /><Relationship Type="http://schemas.openxmlformats.org/officeDocument/2006/relationships/slide" Target="/ppt/slides/slide6.xml" Id="Re18fbd37c86b41e9" /><Relationship Type="http://schemas.openxmlformats.org/officeDocument/2006/relationships/slide" Target="/ppt/slides/slide7.xml" Id="R15853b097fc74f27" /><Relationship Type="http://schemas.openxmlformats.org/officeDocument/2006/relationships/slide" Target="/ppt/slides/slide8.xml" Id="Rb071bc98bd764dc4" /><Relationship Type="http://schemas.openxmlformats.org/officeDocument/2006/relationships/slide" Target="/ppt/slides/slide9.xml" Id="Rafbbe3c609294f41" /><Relationship Type="http://schemas.openxmlformats.org/officeDocument/2006/relationships/slide" Target="/ppt/slides/slide10.xml" Id="Rde5d22ac53f34ec4" /><Relationship Type="http://schemas.openxmlformats.org/officeDocument/2006/relationships/slide" Target="/ppt/slides/slide11.xml" Id="R6a6273703bbf4934" /><Relationship Type="http://schemas.openxmlformats.org/officeDocument/2006/relationships/slide" Target="/ppt/slides/slide12.xml" Id="Rbe4fa3aa35f04d31" /><Relationship Type="http://schemas.openxmlformats.org/officeDocument/2006/relationships/slide" Target="/ppt/slides/slide13.xml" Id="Rda65b746eb6b4ffd" /><Relationship Type="http://schemas.openxmlformats.org/officeDocument/2006/relationships/slide" Target="/ppt/slides/slide14.xml" Id="Rf216bef8ef55465d" /><Relationship Type="http://schemas.openxmlformats.org/officeDocument/2006/relationships/slide" Target="/ppt/slides/slide15.xml" Id="R90e74e4a8aa64528" /><Relationship Type="http://schemas.openxmlformats.org/officeDocument/2006/relationships/slide" Target="/ppt/slides/slide16.xml" Id="Rb29ee115d3794296" /><Relationship Type="http://schemas.openxmlformats.org/officeDocument/2006/relationships/slide" Target="/ppt/slides/slide17.xml" Id="R1a50044f15764f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aa85daf4544d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apstone Review Refresh">
  <a:themeElements>
    <a:clrScheme name="Capstone Review Refresh">
      <a:accent1>
        <a:srgbClr val="0F8B6D"/>
      </a:accent1>
      <a:accent2>
        <a:srgbClr val="D08B28"/>
      </a:accent2>
      <a:accent3>
        <a:srgbClr val="D95E4A"/>
      </a:accent3>
      <a:accent4>
        <a:srgbClr val="6789D6"/>
      </a:accent4>
      <a:accent5>
        <a:srgbClr val="7CB5AE"/>
      </a:accent5>
      <a:accent6>
        <a:srgbClr val="B77AC5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pstone Review Refresh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52a10d094744ba" /><Relationship Type="http://schemas.openxmlformats.org/officeDocument/2006/relationships/notesMaster" Target="/ppt/notesMasters/notesMaster1.xml" Id="R7c569b1d392a4b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6eaa25febb4a99" /><Relationship Type="http://schemas.openxmlformats.org/officeDocument/2006/relationships/notesMaster" Target="/ppt/notesMasters/notesMaster1.xml" Id="R863ae939baa74b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cc8c1c75cc4184" /><Relationship Type="http://schemas.openxmlformats.org/officeDocument/2006/relationships/notesMaster" Target="/ppt/notesMasters/notesMaster1.xml" Id="Rf05f9820c31c4a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c55be0dee6411d" /><Relationship Type="http://schemas.openxmlformats.org/officeDocument/2006/relationships/notesMaster" Target="/ppt/notesMasters/notesMaster1.xml" Id="Rfbe06b3c421b43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51a4c0422243df" /><Relationship Type="http://schemas.openxmlformats.org/officeDocument/2006/relationships/notesMaster" Target="/ppt/notesMasters/notesMaster1.xml" Id="Rc0dbcb3ac71847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f4f5c92a4a4b25" /><Relationship Type="http://schemas.openxmlformats.org/officeDocument/2006/relationships/notesMaster" Target="/ppt/notesMasters/notesMaster1.xml" Id="Rdd408403a60049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7830d1fbb14013" /><Relationship Type="http://schemas.openxmlformats.org/officeDocument/2006/relationships/notesMaster" Target="/ppt/notesMasters/notesMaster1.xml" Id="R796abcf49c2049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0c6b55eb404b98" /><Relationship Type="http://schemas.openxmlformats.org/officeDocument/2006/relationships/notesMaster" Target="/ppt/notesMasters/notesMaster1.xml" Id="R49a97a6559ae4c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fb3b8f95d04c8d" /><Relationship Type="http://schemas.openxmlformats.org/officeDocument/2006/relationships/notesMaster" Target="/ppt/notesMasters/notesMaster1.xml" Id="Rbd1ea552bcd14a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5699a3687a4372" /><Relationship Type="http://schemas.openxmlformats.org/officeDocument/2006/relationships/notesMaster" Target="/ppt/notesMasters/notesMaster1.xml" Id="R3e667e45f8ea4d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40cf09ab5b4828" /><Relationship Type="http://schemas.openxmlformats.org/officeDocument/2006/relationships/notesMaster" Target="/ppt/notesMasters/notesMaster1.xml" Id="R9056f0d1aef743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1a29b179c54faf" /><Relationship Type="http://schemas.openxmlformats.org/officeDocument/2006/relationships/notesMaster" Target="/ppt/notesMasters/notesMaster1.xml" Id="R0774dfd0372441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0f9c45477b04e11" /><Relationship Type="http://schemas.openxmlformats.org/officeDocument/2006/relationships/notesMaster" Target="/ppt/notesMasters/notesMaster1.xml" Id="Rfdf8a3155792499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e0f6123700e4c79" /><Relationship Type="http://schemas.openxmlformats.org/officeDocument/2006/relationships/notesMaster" Target="/ppt/notesMasters/notesMaster1.xml" Id="Rb0f7af6e91f341f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f989a62b4c4165" /><Relationship Type="http://schemas.openxmlformats.org/officeDocument/2006/relationships/notesMaster" Target="/ppt/notesMasters/notesMaster1.xml" Id="R15bb01f40dc84ca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50a07cc44594a01" /><Relationship Type="http://schemas.openxmlformats.org/officeDocument/2006/relationships/notesMaster" Target="/ppt/notesMasters/notesMaster1.xml" Id="R982c0be8cee545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05461f92fd24db9" /><Relationship Type="http://schemas.openxmlformats.org/officeDocument/2006/relationships/notesMaster" Target="/ppt/notesMasters/notesMaster1.xml" Id="Rbfcc294407814d1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6bd6f620d44ed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99F4A4ED-53AB-443D-81FE-6A79DAB8A6FC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F31AB710-25FB-4B32-89E0-F8E6374C3C3C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79CFD62-B356-452A-A740-26172D0857E4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2F3FA8-380F-44C5-871A-EA2F218A684D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7c75c4c4a9b4df4" /><Relationship Type="http://schemas.openxmlformats.org/officeDocument/2006/relationships/slideLayout" Target="/ppt/slideLayouts/slideLayout2.xml" Id="Raae26863838240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95D6B11-A788-4C0F-BCC0-8E3F6599EBF1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e26863838240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16acd099a74599" /><Relationship Type="http://schemas.openxmlformats.org/officeDocument/2006/relationships/notesSlide" Target="/ppt/notesSlides/notesSlide1.xml" Id="R47e9c0c741bf4b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67fce95ae94831" /><Relationship Type="http://schemas.openxmlformats.org/officeDocument/2006/relationships/notesSlide" Target="/ppt/notesSlides/notesSlide2.xml" Id="R5d29880630b548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88d60693d94316" /><Relationship Type="http://schemas.openxmlformats.org/officeDocument/2006/relationships/notesSlide" Target="/ppt/notesSlides/notesSlide3.xml" Id="Rf4c6695c32b648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449df5bba94a25" /><Relationship Type="http://schemas.openxmlformats.org/officeDocument/2006/relationships/notesSlide" Target="/ppt/notesSlides/notesSlide4.xml" Id="Rdb8544983a7142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28b44861cc49dd" /><Relationship Type="http://schemas.openxmlformats.org/officeDocument/2006/relationships/notesSlide" Target="/ppt/notesSlides/notesSlide5.xml" Id="R20b7735a1fbf44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9c9eb44fbf438a" /><Relationship Type="http://schemas.openxmlformats.org/officeDocument/2006/relationships/notesSlide" Target="/ppt/notesSlides/notesSlide6.xml" Id="R5700e0be5b3c43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0c2584b3224490" /><Relationship Type="http://schemas.openxmlformats.org/officeDocument/2006/relationships/notesSlide" Target="/ppt/notesSlides/notesSlide7.xml" Id="R9802fe65cafa46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540561436143e6" /><Relationship Type="http://schemas.openxmlformats.org/officeDocument/2006/relationships/notesSlide" Target="/ppt/notesSlides/notesSlide8.xml" Id="Raae37cc8766d4d6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95ede3102c4ef9" /><Relationship Type="http://schemas.openxmlformats.org/officeDocument/2006/relationships/chart" Target="/ppt/slides/charts/chart1.xml" Id="R84e6d678a3a34678" /><Relationship Type="http://schemas.openxmlformats.org/officeDocument/2006/relationships/notesSlide" Target="/ppt/notesSlides/notesSlide9.xml" Id="Rfea72ff986c641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f27ad280c64315" /><Relationship Type="http://schemas.openxmlformats.org/officeDocument/2006/relationships/notesSlide" Target="/ppt/notesSlides/notesSlide10.xml" Id="Re1f147e59b9e47f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3a3de444f144c27" /><Relationship Type="http://schemas.openxmlformats.org/officeDocument/2006/relationships/notesSlide" Target="/ppt/notesSlides/notesSlide11.xml" Id="Rac31da518aa944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976fa5df7c4687" /><Relationship Type="http://schemas.openxmlformats.org/officeDocument/2006/relationships/image" Target="/ppt/media/image.png" Id="Rd9456b212d674d27" /><Relationship Type="http://schemas.openxmlformats.org/officeDocument/2006/relationships/notesSlide" Target="/ppt/notesSlides/notesSlide12.xml" Id="R1454af60c4ce43f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e3508a4123415b" /><Relationship Type="http://schemas.openxmlformats.org/officeDocument/2006/relationships/image" Target="/ppt/media/image.jpeg" Id="R8eb1dad8349a407e" /><Relationship Type="http://schemas.openxmlformats.org/officeDocument/2006/relationships/notesSlide" Target="/ppt/notesSlides/notesSlide13.xml" Id="R1d62d9b6157a41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f42c93b49f4108" /><Relationship Type="http://schemas.openxmlformats.org/officeDocument/2006/relationships/image" Target="/ppt/media/image2.jpeg" Id="R62dfcbf7235a4127" /><Relationship Type="http://schemas.openxmlformats.org/officeDocument/2006/relationships/notesSlide" Target="/ppt/notesSlides/notesSlide14.xml" Id="R43d457ce0b2a4c5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62f9247fa64842" /><Relationship Type="http://schemas.openxmlformats.org/officeDocument/2006/relationships/image" Target="/ppt/media/image3.jpeg" Id="R4da205bfcca640b9" /><Relationship Type="http://schemas.openxmlformats.org/officeDocument/2006/relationships/notesSlide" Target="/ppt/notesSlides/notesSlide15.xml" Id="R4e40182b813740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b391a299104598" /><Relationship Type="http://schemas.openxmlformats.org/officeDocument/2006/relationships/image" Target="/ppt/media/image2.png" Id="R3b3339b856c34ef9" /><Relationship Type="http://schemas.openxmlformats.org/officeDocument/2006/relationships/notesSlide" Target="/ppt/notesSlides/notesSlide16.xml" Id="R5b34821ddf4642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09a49f3e7e4d76" /><Relationship Type="http://schemas.openxmlformats.org/officeDocument/2006/relationships/notesSlide" Target="/ppt/notesSlides/notesSlide17.xml" Id="Rdb584658b0d7423d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Project model vs best baseline</a:t>
            </a:r>
          </a:p>
        </c:rich>
      </c:tx>
      <c:overlay val="0"/>
    </c:title>
    <c:autoTitleDeleted val="0"/>
    <c:view3D/>
    <c:plotArea>
      <c:layout/>
      <c:barChart>
        <c:barDir val="col"/>
        <c:grouping val="clustered"/>
        <c:varyColors val="0"/>
        <c:ser>
          <c:idx val="0"/>
          <c:order val="0"/>
          <c:tx>
            <c:v>Project model</c:v>
          </c:tx>
          <c:cat>
            <c:strLit>
              <c:ptCount val="6"/>
              <c:pt idx="0">
                <c:v>CKD Macro F1</c:v>
              </c:pt>
              <c:pt idx="1">
                <c:v>CKD ROC AUC</c:v>
              </c:pt>
              <c:pt idx="2">
                <c:v>HTN Macro F1</c:v>
              </c:pt>
              <c:pt idx="3">
                <c:v>HTN ROC AUC</c:v>
              </c:pt>
              <c:pt idx="4">
                <c:v>DIAB Macro F1</c:v>
              </c:pt>
              <c:pt idx="5">
                <c:v>DIAB ROC AUC</c:v>
              </c:pt>
            </c:strLit>
          </c:cat>
          <c:val>
            <c:numLit>
              <c:formatCode/>
              <c:ptCount val="6"/>
              <c:pt idx="0">
                <c:v>0.518282</c:v>
              </c:pt>
              <c:pt idx="1">
                <c:v>0.591821</c:v>
              </c:pt>
              <c:pt idx="2">
                <c:v>0.540125</c:v>
              </c:pt>
              <c:pt idx="3">
                <c:v>0.926586</c:v>
              </c:pt>
              <c:pt idx="4">
                <c:v>0.525395</c:v>
              </c:pt>
              <c:pt idx="5">
                <c:v>0.898102</c:v>
              </c:pt>
            </c:numLit>
          </c:val>
        </c:ser>
        <c:ser>
          <c:idx val="1"/>
          <c:order val="1"/>
          <c:tx>
            <c:v>Best baseline</c:v>
          </c:tx>
          <c:cat>
            <c:strLit>
              <c:ptCount val="6"/>
              <c:pt idx="0">
                <c:v>CKD Macro F1</c:v>
              </c:pt>
              <c:pt idx="1">
                <c:v>CKD ROC AUC</c:v>
              </c:pt>
              <c:pt idx="2">
                <c:v>HTN Macro F1</c:v>
              </c:pt>
              <c:pt idx="3">
                <c:v>HTN ROC AUC</c:v>
              </c:pt>
              <c:pt idx="4">
                <c:v>DIAB Macro F1</c:v>
              </c:pt>
              <c:pt idx="5">
                <c:v>DIAB ROC AUC</c:v>
              </c:pt>
            </c:strLit>
          </c:cat>
          <c:val>
            <c:numLit>
              <c:formatCode/>
              <c:ptCount val="6"/>
              <c:pt idx="0">
                <c:v>0.495961</c:v>
              </c:pt>
              <c:pt idx="1">
                <c:v>0.585231</c:v>
              </c:pt>
              <c:pt idx="2">
                <c:v>0.600075</c:v>
              </c:pt>
              <c:pt idx="3">
                <c:v>0.876631</c:v>
              </c:pt>
              <c:pt idx="4">
                <c:v>0.605909</c:v>
              </c:pt>
              <c:pt idx="5">
                <c:v>0.852946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3AD42-1602-4733-8B0B-FA8B6B3A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95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62112-8809-4E5A-A24B-CA8F5057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144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UE23CS320A - Project Phase 2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C4E391-6327-4D9B-AC33-F7BE44CCB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276350"/>
            <a:ext cx="7905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181A"/>
                </a:solidFill>
              </a:defRPr>
            </a:pPr>
            <a:r>
              <a:rPr sz="3225" b="1">
                <a:solidFill>
                  <a:srgbClr val="16181A"/>
                </a:solidFill>
              </a:rPr>
              <a:t>A Deep Learning and Generative AI-Driven Diet Recommendation System for Personalized Chronic Disease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13222-9729-4F37-9F34-9F83875E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05150"/>
            <a:ext cx="6858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46B"/>
                </a:solidFill>
              </a:defRPr>
            </a:pPr>
            <a:r>
              <a:rPr sz="1500" b="0">
                <a:solidFill>
                  <a:srgbClr val="5F646B"/>
                </a:solidFill>
              </a:rPr>
              <a:t>Updated review deck using the same ISA-1 headings with refreshed dataset counts, source sites, benchmark comparison, full-train model status, and terminal demo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9D6D66-80B3-4A56-946E-0E78B751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495300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83553-32B3-44B4-9233-5608D424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81A"/>
                </a:solidFill>
              </a:defRPr>
            </a:pPr>
            <a:r>
              <a:rPr sz="1350" b="1">
                <a:solidFill>
                  <a:srgbClr val="16181A"/>
                </a:solidFill>
              </a:rPr>
              <a:t>Project ID: 17</a:t>
            </a:r>
          </a:p>
          <a:p xmlns:a="http://schemas.openxmlformats.org/drawingml/2006/main">
            <a:pPr algn="l">
              <a:defRPr sz="1350" b="1">
                <a:solidFill>
                  <a:srgbClr val="16181A"/>
                </a:solidFill>
              </a:defRPr>
            </a:pPr>
            <a:r>
              <a:rPr sz="1350" b="1">
                <a:solidFill>
                  <a:srgbClr val="16181A"/>
                </a:solidFill>
              </a:rPr>
              <a:t>Guide: Dr. Saritha</a:t>
            </a:r>
          </a:p>
          <a:p xmlns:a="http://schemas.openxmlformats.org/drawingml/2006/main">
            <a:pPr algn="l">
              <a:defRPr sz="1350" b="1">
                <a:solidFill>
                  <a:srgbClr val="16181A"/>
                </a:solidFill>
              </a:defRPr>
            </a:pPr>
            <a:r>
              <a:rPr sz="1350" b="1">
                <a:solidFill>
                  <a:srgbClr val="16181A"/>
                </a:solidFill>
              </a:rPr>
              <a:t>Team: Vatsal Jain | Vivek Tutika | Pranav Shetty | Sourabh S Hegde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1DAF0-8FBD-4B8A-9471-41A0D028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Prepared from the repository state on April 19, 2026.</a:t>
            </a:r>
          </a:p>
        </p:txBody>
      </p:sp>
    </p:spTree>
    <p:extLst>
      <p:ext uri="{BB962C8B-B14F-4D97-AF65-F5344CB8AC3E}">
        <p14:creationId xmlns:p14="http://schemas.microsoft.com/office/powerpoint/2010/main" val="17218329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FCF22B-D16E-479E-AAE4-3ACBFAFD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Problem Statement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8D0B42-4863-4AE8-B21A-13EC77BE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02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A5C1D1-E517-45F0-A60A-A31A4F08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62B06-7450-482C-964E-5ACD77A6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9E77F-4E27-4E14-864C-9B5FD045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Problem Statement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92E0C-4B96-4571-8A1B-D9848763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The project still targets safe, adaptive nutrition support, but Phase 2 focuses on making the disease-risk layer reliable first.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144BA-8847-458C-A795-599B6DC1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F1B1A8-386A-4CFE-A8A9-F1AAB4CE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B8C0B-4512-480B-AB07-794CA2AF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193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3C580-44CF-4325-8C8A-656F25C0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Clinical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38C07-7765-4C23-8BDE-890B473D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Generic diet tools ignore disease-specific risk and patient state.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Unsafe recommendations can happen if prediction and nutrition layers drift apart.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system must explain risk before it can justify meal correction.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5258B-93CB-41F2-9664-D66EF42C0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C4A1D7-1C4E-49A1-93B1-02D46132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669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384691-07D2-491F-B803-55BE683C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193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4B86E-46D2-4436-AE76-943D8A01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Implementation problem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05436B-AA32-4DCB-AE54-84A331011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7655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Merged survey datasets can look large but still lose critical lab and blood-pressure columns.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Terminal and backend demos break if model artifacts are too heavy or feature schemas are inconsistent.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review deck therefore needs current numbers, not earlier placeholders.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B4F3A-2394-4777-8239-0B730E32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C98CE-270E-4F46-A0BB-94F2B29E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669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4ACEBE-D870-477E-90BE-E789E142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B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67A96-B348-4460-9BD2-587C7C7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765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Phase 2 answer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BFB5C5-93DA-49A3-843C-6CC0C14D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Retrain project-final disease models on the large prepared splits.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Keep benchmark comparison visible against baseline models.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Make terminal prediction reproducible from the actual deployed artifacts.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43C6F0-C2C0-403B-89E9-881BB3D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Current implementation priority: stable disease prediction first, diet calibration next.</a:t>
            </a:r>
          </a:p>
        </p:txBody>
      </p:sp>
    </p:spTree>
    <p:extLst>
      <p:ext uri="{BB962C8B-B14F-4D97-AF65-F5344CB8AC3E}">
        <p14:creationId xmlns:p14="http://schemas.microsoft.com/office/powerpoint/2010/main" val="1170597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BD90F8-A6EF-4520-BC2E-8292FF9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Abstract and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CAB38-26F1-4D52-B48E-1AEA3A7E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03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0A4F6-C3E7-43F7-AA41-5848D0E6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39334-6813-4EB0-979E-D43A3216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7EF19-8CE7-41C2-AB25-48A08865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Abstract and 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EBCFD-3145-4213-A839-0265D0CC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The scope is now a working disease-risk backbone that cleanly feeds the next meal recommendation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01169-3028-4010-9FFA-41ECA874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334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27692D-4AFF-4F49-AD8A-86C815E6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762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1B32D0-5274-4FA6-B30E-127328BB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502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27D550-8737-4F82-A064-3D446FB4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800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In scope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70136-2B8A-404D-BD93-927802D0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933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CKD, hypertension, and diabetes risk modeling.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Preprocessing, training, benchmarking, threshold building, and terminal/API inference.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Dataset audit notes, source tracking, and screenshot-ready demo commands.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D5173-E2EE-4992-8355-327B567B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535305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52FE0-E326-4D34-B3AD-324B68EC6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43150"/>
            <a:ext cx="762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3B733-AE88-438E-9106-F4FBD140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95550"/>
            <a:ext cx="504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454AD-9499-4B0A-B969-6EC72D3C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52700"/>
            <a:ext cx="48196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Next scope after this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228056-771D-4A30-BF32-86A82F0A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52750"/>
            <a:ext cx="49530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Raw patient-friendly input mapping into each disease feature space.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Direct coupling of risk levels into the diet recommendation engine.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End-to-end meal recalibration once the raw-input layer is finalized.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622B39-370B-40A0-9DFA-B5183130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This keeps the original project vision but narrows the live demo to what is fully implemented now.</a:t>
            </a:r>
          </a:p>
        </p:txBody>
      </p:sp>
    </p:spTree>
    <p:extLst>
      <p:ext uri="{BB962C8B-B14F-4D97-AF65-F5344CB8AC3E}">
        <p14:creationId xmlns:p14="http://schemas.microsoft.com/office/powerpoint/2010/main" val="14217715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9A3FD-81AA-40DA-BF90-2E4DA143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Suggestions from Phase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B723F-D91F-4D31-B815-5ABF7473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04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F18BC-F37D-4179-A49D-A221E8F0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70583F-8089-47BB-88B5-4C4C2EB50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E862E-4DE3-4682-BBF0-49579152C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Suggestions from 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0E1D1-3C61-432F-9FAE-FF3C4933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The Phase 1 review directly influenced the current implementation decisions.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26D88-9E25-43F0-8D10-B0A360DA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42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D811E4-DCBA-484E-BF30-7BCF4F95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762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D1E942-B39A-43F9-83E1-E8CA638D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44309-1C86-4DB5-9E57-3E73AC5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Panel suggestions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9B85C-497A-4C18-BDD6-A3BF345F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28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Do not depend only on synthetic or weak placeholder data.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Avoid spreading effort across too many disconnected ideas.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Prioritize the most practical models and flows for the review demo.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091A6D-856F-4EDC-8C56-55630E06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42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10ED9D-5B4A-4040-BC28-24680D4C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762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F97BA-C67C-48EE-9752-0A8AA076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C2694-7A33-4FF1-B5A3-9C2B942B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What changed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CD84A-00AF-4C03-9F92-9D60092D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3028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project retained large amalgamated disease tables but audited them instead of trusting them blindly.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final artifacts were retrained with lighter, deployable models.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terminal demo inputs were updated to match the active feature schemas.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C480E-0C5A-45C2-AD0F-A967D5CC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4290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02493A-ABBF-4245-B11E-07E604EF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7620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AB91B4-30A0-471D-BA85-3EAEF9E0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B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865DE-2E18-4F73-A8CB-C251799B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18FAC-1DA8-4271-AC01-1383DA7B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0289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Project-final models now load and predict in terminal.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Training uses full 400k+ prepared splits per disease.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review deck can now cite exact row counts, columns, and source sites.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40D41D-91F7-4B6C-8FD2-AD41023A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The present repo state reflects those review-driven corrections.</a:t>
            </a:r>
          </a:p>
        </p:txBody>
      </p:sp>
    </p:spTree>
    <p:extLst>
      <p:ext uri="{BB962C8B-B14F-4D97-AF65-F5344CB8AC3E}">
        <p14:creationId xmlns:p14="http://schemas.microsoft.com/office/powerpoint/2010/main" val="37826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AAF9E6-2B50-47C8-B32E-2C23544B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Requirement Specification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C6202-D883-4F2C-A9B5-BEACC869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05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989B8B-C7C3-4A7C-80C8-D118526D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101B00-36A4-40FE-ABC1-2465E126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D3A26F-2F57-48B0-83F0-C4926AD9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Requirement Specification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3A7FA-15DA-49E3-87EC-0D0C4CBC9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The current milestone satisfies the core risk-layer requirements needed for the next implementation step.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DA13D-BE70-44B7-9922-4BD457DC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2578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075A94-D0F1-4C46-9227-8E418A71B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1FD51A-B4F9-4A56-9380-F3A64757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4953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DCF89E-2581-4159-8FF2-36071EDA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4724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Functional requirements covered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E6E20B-0C42-40F9-957E-1C1D5095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48577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Disease-wise preprocessing and train/test generation.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Model artifact creation for CKD, hypertension, and diabetes.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Terminal prediction from JSON input and template generation.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Baseline comparison and threshold/factor reports.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D0AE5-7471-4797-94BC-3F54EB8F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54102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6A974D-29CF-4975-B47D-667A86A9C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4F0BA-7EF4-49A1-8713-54FCD53F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95550"/>
            <a:ext cx="5105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513AD-4224-4AB9-A220-8AB72AF2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52700"/>
            <a:ext cx="4876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Non-functional requirements covered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0B779-D7F7-4EA6-A38E-683FE5EE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5010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Repeatable commands for review screenshots.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Smaller artifacts that can actually load for demo use.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Clear source-site traceability for the amalgamated data.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Explicit separation between current backend work and next-step diet calibration.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409B3-1D87-4A59-97F3-93EF572C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Current review assets now live under outputs/isa-review2 and reports/current.</a:t>
            </a:r>
          </a:p>
        </p:txBody>
      </p:sp>
    </p:spTree>
    <p:extLst>
      <p:ext uri="{BB962C8B-B14F-4D97-AF65-F5344CB8AC3E}">
        <p14:creationId xmlns:p14="http://schemas.microsoft.com/office/powerpoint/2010/main" val="10210464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0D9A13-E4AF-43F1-9D7C-B6ABF628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Confirmed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86541-EB8F-4ACD-BA3C-76D2AB32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06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FCA921-AC5C-43C5-BEAD-F85299BF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4E3042-F185-4ED5-8FD1-353E6493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F19E6-33F2-4C07-BA23-97E95763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Confirmed 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785BE0-6005-46F6-AF3C-D48639C3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The project is an amalgamation of disease, public-health, and nutrition sources.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E6693D-D88E-4C22-B3BC-896B9067D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32115-2E9B-43FB-B59F-D596E060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76951-5807-49A9-9588-A2C484AE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B8F7FB-DB0B-4CF7-8A76-BD7D16140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955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Disease and public-health sources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491B9-A15A-4DF9-B583-60AFF2E6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0289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UCI Machine Learning Repository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Framingham Heart Study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Pima Indians Diabetes Dataset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CDC BRFSS Annual Data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CDC NHANES 2017-2018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0CC55-5FDE-4201-BF85-C691438A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2A0DC-E264-4C09-8971-79D99B88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860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88C5A-DEBB-4E09-AB10-1F072ED5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3840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64262-9925-400B-A80C-9E8994AB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955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Nutrition sources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5A0A83-9239-4317-8E87-A4F193D6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30289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ICMR-NIN IFCT 2017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Mendeley Data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Open Food Facts India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Kaggle support files where relevant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2A88F-B0AB-40B3-BA95-9894E19C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3429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185081-2ED5-43D5-8C9A-439E9EC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286000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46E34-D235-4803-976A-2346FED9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3840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B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A04D7C-9708-4E04-B443-0C48E361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955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What is confirmed here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C52BAC-DEF9-4560-8E4A-F6601736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95600"/>
            <a:ext cx="302895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Site names for the full data amalgamation are explicitly listed.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Dataset row counts and column names are now documented per active serving dataset.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Large train splits exceed 400k rows for every disease model.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2A3689-3F96-47BC-9E76-0CBC2F1EB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Source sites used across the project: UCI Machine Learning Repository | Framingham Heart Study | Pima Indians Diabetes Dataset | CDC BRFSS Annual Data | CDC NHANES 2017-2018 | ICMR-NIN IFCT 2017 | Mendeley Data | Open Food Facts India | Kaggle.</a:t>
            </a:r>
          </a:p>
        </p:txBody>
      </p:sp>
    </p:spTree>
    <p:extLst>
      <p:ext uri="{BB962C8B-B14F-4D97-AF65-F5344CB8AC3E}">
        <p14:creationId xmlns:p14="http://schemas.microsoft.com/office/powerpoint/2010/main" val="1895445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918C3-AE80-4020-8E7A-8B9FBD1F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Temporary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CDFC6-9924-469F-949B-05BA2AD9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07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B3A66-1BF1-47E4-8BC2-3449F5D3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17B41-1EC9-4FD4-A3D1-887ACF32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FADC7E-DB12-4622-AE88-10521C29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Temporary 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656F41-5552-45E1-AEDF-4893C8280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Dataset detail for CKD and Hypertension.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E1263-3868-47B8-A52E-DCF13DD0B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197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6730BF-1D4F-4529-8CE9-6790D42B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1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7CEE1-4025-495D-80C7-F094D104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A"/>
                </a:solidFill>
              </a:defRPr>
            </a:pPr>
            <a:r>
              <a:rPr sz="1575" b="1">
                <a:solidFill>
                  <a:srgbClr val="16181A"/>
                </a:solidFill>
              </a:rPr>
              <a:t>CKD large serving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94CEF7-DE4C-45A3-9CE6-6B0A0BD41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876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File: medical datasets/large/ckd_large.csv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Rows: 455,590 | Columns: 10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Training rows used for final model: 690,956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Target: ckd_label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Final model: DecisionTreeClassifier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73474-EC6C-47AD-A2BB-F56EF6B9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87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181A"/>
                </a:solidFill>
              </a:defRPr>
            </a:pPr>
            <a:r>
              <a:rPr sz="900" b="0">
                <a:solidFill>
                  <a:srgbClr val="16181A"/>
                </a:solidFill>
              </a:rPr>
              <a:t>Columns:</a:t>
            </a:r>
          </a:p>
          <a:p xmlns:a="http://schemas.openxmlformats.org/drawingml/2006/main">
            <a:pPr algn="l">
              <a:defRPr sz="900" b="0">
                <a:solidFill>
                  <a:srgbClr val="16181A"/>
                </a:solidFill>
              </a:defRPr>
            </a:pPr>
            <a:r>
              <a:rPr sz="900" b="0">
                <a:solidFill>
                  <a:srgbClr val="16181A"/>
                </a:solidFill>
              </a:rPr>
              <a:t>age, male, BMI, sysBP, diaBP, glucose, diabetes, prevalentHyp, source, ckd_label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0B59BB-D238-4703-94F4-7B51FDCD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876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Sites used in amalgamation:</a:t>
            </a:r>
          </a:p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CDC BRFSS Annual Data</a:t>
            </a:r>
          </a:p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CDC NHANES 2017-2018</a:t>
            </a:r>
          </a:p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UCI Machine Learning Repository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A5F73-CBBB-4C92-800D-30AFB618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2197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4F0A42-6863-432B-938E-85D3E695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21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951FAA-5349-4596-AE41-2D780905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A"/>
                </a:solidFill>
              </a:defRPr>
            </a:pPr>
            <a:r>
              <a:rPr sz="1575" b="1">
                <a:solidFill>
                  <a:srgbClr val="16181A"/>
                </a:solidFill>
              </a:rPr>
              <a:t>Hypertension large serving dataset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F50575-EBC5-4046-B22E-DE358D23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647950"/>
            <a:ext cx="4876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File: medical datasets/large/hypertension_large_500k.csv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Rows: 500,000 | Columns: 13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Training rows used for final model: 785,242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Target: prevalentHyp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Final model: LogisticRegression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ECDBBA-1014-4E67-933E-C6EBD4E6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95700"/>
            <a:ext cx="487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181A"/>
                </a:solidFill>
              </a:defRPr>
            </a:pPr>
            <a:r>
              <a:rPr sz="900" b="0">
                <a:solidFill>
                  <a:srgbClr val="16181A"/>
                </a:solidFill>
              </a:rPr>
              <a:t>Columns:</a:t>
            </a:r>
          </a:p>
          <a:p xmlns:a="http://schemas.openxmlformats.org/drawingml/2006/main">
            <a:pPr algn="l">
              <a:defRPr sz="900" b="0">
                <a:solidFill>
                  <a:srgbClr val="16181A"/>
                </a:solidFill>
              </a:defRPr>
            </a:pPr>
            <a:r>
              <a:rPr sz="900" b="0">
                <a:solidFill>
                  <a:srgbClr val="16181A"/>
                </a:solidFill>
              </a:rPr>
              <a:t>male, age, education, currentSmoker, cigsPerDay, prevalentStroke, BMI, sysBP, diaBP, glucose, diabetes, source, prevalentHyp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CF195-653F-40C6-A5C2-0A78538A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819650"/>
            <a:ext cx="4876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Sites used in amalgamation:</a:t>
            </a:r>
          </a:p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CDC BRFSS Annual Data</a:t>
            </a:r>
          </a:p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Framingham Heart Study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38CB06-B0AC-4D5A-B89B-86021E11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These cards include rows, columns, training rows used, model used, column names, and source-site names.</a:t>
            </a:r>
          </a:p>
        </p:txBody>
      </p:sp>
    </p:spTree>
    <p:extLst>
      <p:ext uri="{BB962C8B-B14F-4D97-AF65-F5344CB8AC3E}">
        <p14:creationId xmlns:p14="http://schemas.microsoft.com/office/powerpoint/2010/main" val="2155871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15F9C-F852-48D0-B4C7-6B8CDCC4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Temporary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0AAF8-F39F-4058-BD70-056A67A5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08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5393B-3E40-49B9-855B-B397A1E3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106A38-5F4A-4C9C-BECF-6C395D90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FA786-4C32-48F2-AE8D-78E37347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Temporary 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900B3-2641-4F2E-8C1F-E61F50E7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Dataset detail for Diabetes plus the current 400k+ training proof.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FD7F31-26AB-4DF6-AB9C-21303565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197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83A14-A3A4-46F7-9D02-59938231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19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71852-662E-4001-AC21-6313D196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4876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81A"/>
                </a:solidFill>
              </a:defRPr>
            </a:pPr>
            <a:r>
              <a:rPr sz="1575" b="1">
                <a:solidFill>
                  <a:srgbClr val="16181A"/>
                </a:solidFill>
              </a:rPr>
              <a:t>Diabetes large serving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41AE3-28F4-4282-8027-5A871104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4876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File: medical datasets/large/diabetes_large_500k.csv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Rows: 500,000 | Columns: 10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Training rows used for final model: 754,970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Target: diabetes</a:t>
            </a:r>
          </a:p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Final model: GaussianNB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F54E49-9D6E-4146-81D0-9F38C0D8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876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6181A"/>
                </a:solidFill>
              </a:defRPr>
            </a:pPr>
            <a:r>
              <a:rPr sz="900" b="0">
                <a:solidFill>
                  <a:srgbClr val="16181A"/>
                </a:solidFill>
              </a:rPr>
              <a:t>Columns:</a:t>
            </a:r>
          </a:p>
          <a:p xmlns:a="http://schemas.openxmlformats.org/drawingml/2006/main">
            <a:pPr algn="l">
              <a:defRPr sz="900" b="0">
                <a:solidFill>
                  <a:srgbClr val="16181A"/>
                </a:solidFill>
              </a:defRPr>
            </a:pPr>
            <a:r>
              <a:rPr sz="900" b="0">
                <a:solidFill>
                  <a:srgbClr val="16181A"/>
                </a:solidFill>
              </a:rPr>
              <a:t>age, male, BMI, sysBP, diaBP, glucose, prevalentHyp, currentSmoker, source, diabetes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039C4F-6A3F-45F5-B4AE-5FB1BAEE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19650"/>
            <a:ext cx="48768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Sites used in amalgamation:</a:t>
            </a:r>
          </a:p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CDC BRFSS Annual Data</a:t>
            </a:r>
          </a:p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Pima Indians Diabetes Dataset</a:t>
            </a:r>
          </a:p>
          <a:p xmlns:a="http://schemas.openxmlformats.org/drawingml/2006/main">
            <a:pPr algn="l">
              <a:defRPr sz="975" b="0">
                <a:solidFill>
                  <a:srgbClr val="16181A"/>
                </a:solidFill>
              </a:defRPr>
            </a:pPr>
            <a:r>
              <a:rPr sz="975" b="0">
                <a:solidFill>
                  <a:srgbClr val="16181A"/>
                </a:solidFill>
              </a:rPr>
              <a:t>Kaggle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11594-C8C7-4BB8-97DA-952D7F1E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2197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7BFB2D-8C64-4DD2-9057-E9138B2F6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762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3AA632-FBA5-4F8D-B469-D8FAB791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47900"/>
            <a:ext cx="491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298409-91A2-4B40-967B-380A349A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05050"/>
            <a:ext cx="468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Training proof and caveat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68DB5E-CEAE-4B7B-9CCA-499D6D35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05100"/>
            <a:ext cx="48196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CKD train split used for the final model: 690,956 rows.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Hypertension train split used for the final model: 785,242 rows.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Diabetes train split used for the final model: 754,970 rows.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Baseline benchmarking remains capped at 120,000 rows per disease for runtime control.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That cap only applies to the comparison study, not to the saved project-final artifacts.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209CE8-2752-4141-BBB5-44114E77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This slide answers the panel request to show that the deployed models were trained on at least 400k values per disease.</a:t>
            </a:r>
          </a:p>
        </p:txBody>
      </p:sp>
    </p:spTree>
    <p:extLst>
      <p:ext uri="{BB962C8B-B14F-4D97-AF65-F5344CB8AC3E}">
        <p14:creationId xmlns:p14="http://schemas.microsoft.com/office/powerpoint/2010/main" val="2280921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5061A-0B6A-4FBF-B20C-D1B59A6B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Temporary Datasets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5E9AE-42FF-4768-8F82-A13F3F67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09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99383-4157-4C96-831B-F6EA722F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46AAF-6061-4BCA-90DC-F823A617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442871-19E3-4EEB-BE61-B2E86713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Temporary Datasets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793AF7-011D-41A9-9D59-C46983E2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Model comparison graph and the exact terminal commands needed for screenshots.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3067C-4763-4509-A73B-2236C1AB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72390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857250" y="2324100"/>
          <a:ext xmlns:a="http://schemas.openxmlformats.org/drawingml/2006/main" cx="6743700" cy="3181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e6d678a3a3467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43E5F0-34B6-44E0-B108-F2ED1B19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33600"/>
            <a:ext cx="348615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0">
            <a:solidFill>
              <a:srgbClr val="1114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1AB51C-D4FC-4BBC-845E-26A37681F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66950"/>
            <a:ext cx="318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E9C9"/>
                </a:solidFill>
              </a:defRPr>
            </a:pPr>
            <a:r>
              <a:rPr sz="975" b="1">
                <a:solidFill>
                  <a:srgbClr val="9EE9C9"/>
                </a:solidFill>
              </a:rPr>
              <a:t>Commands for training + comparison screenshot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5C8E0-466B-4C8A-9756-E8C7CFAE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33650"/>
            <a:ext cx="31813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Set-Location "D:\sem 6\capstone\Sem_6_Capstone"</a:t>
            </a:r>
          </a:p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&amp; ".\.venv\Scripts\python.exe" scripts\train_models.py --data-source preprocessed</a:t>
            </a:r>
          </a:p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&amp; ".\.venv\Scripts\python.exe" scripts\build_risk_profiles.py</a:t>
            </a:r>
          </a:p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&amp; ".\.venv\Scripts\python.exe" scripts\benchmark_baseline_models.py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213D37-7D20-4311-BA0D-A08F886E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67200"/>
            <a:ext cx="348615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111418"/>
          </a:solidFill>
          <a:ln xmlns:a="http://schemas.openxmlformats.org/drawingml/2006/main" w="0">
            <a:solidFill>
              <a:srgbClr val="11141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811DF-6216-45A1-9E3E-8404FB11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00550"/>
            <a:ext cx="3181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EE9C9"/>
                </a:solidFill>
              </a:defRPr>
            </a:pPr>
            <a:r>
              <a:rPr sz="975" b="1">
                <a:solidFill>
                  <a:srgbClr val="9EE9C9"/>
                </a:solidFill>
              </a:rPr>
              <a:t>Commands for terminal prediction screenshot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EAD97A-A70C-4950-A91A-A1324D5E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67250"/>
            <a:ext cx="31813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&amp; ".\.venv\Scripts\python.exe" scripts\predict_from_terminal.py --disease ckd --show-template</a:t>
            </a:r>
          </a:p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&amp; ".\.venv\Scripts\python.exe" scripts\predict_from_terminal.py --input demo_inputs\terminal_samples\ckd_sample_1.json</a:t>
            </a:r>
          </a:p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&amp; ".\.venv\Scripts\python.exe" scripts\predict_from_terminal.py --input demo_inputs\terminal_samples\hypertension_sample_1.json</a:t>
            </a:r>
          </a:p>
          <a:p xmlns:a="http://schemas.openxmlformats.org/drawingml/2006/main">
            <a:pPr algn="l">
              <a:defRPr sz="825" b="0">
                <a:solidFill>
                  <a:srgbClr val="FFFFFF"/>
                </a:solidFill>
              </a:defRPr>
            </a:pPr>
            <a:r>
              <a:rPr sz="825" b="0">
                <a:solidFill>
                  <a:srgbClr val="FFFFFF"/>
                </a:solidFill>
              </a:rPr>
              <a:t>&amp; ".\.venv\Scripts\python.exe" scripts\predict_from_terminal.py --input demo_inputs\terminal_samples\diabetes_sample_1.json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791F64-94B0-4FDC-A616-61FED63C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Chart note: project metrics come from full-train artifacts; best baseline metrics come from the capped benchmark report.</a:t>
            </a:r>
          </a:p>
        </p:txBody>
      </p:sp>
    </p:spTree>
    <p:extLst>
      <p:ext uri="{BB962C8B-B14F-4D97-AF65-F5344CB8AC3E}">
        <p14:creationId xmlns:p14="http://schemas.microsoft.com/office/powerpoint/2010/main" val="8706258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2D0CC-F988-4E99-9710-ACFC086E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Design Approach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59439-659E-4C62-AF30-A2E87ECA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10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834A0-9A23-4519-BD45-A6DC0B4EB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840DF7-91C9-4718-997E-1D572C0F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B8EEFE-ACB3-4736-9A4F-9D5D975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Design 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DC8B5-47D4-4DFF-B62D-1095EA3D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The implementation keeps the original layered design but tightens the modeling core.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43AA61-4910-4137-B27B-901CD10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996C8-60CA-48BD-9F32-6AEBBCE6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348B80-1C05-4AEF-B078-9E6357FE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92508B-6B67-4FF8-A5F2-E3D46320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Approach followed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677DD9-DE7F-4AD5-B398-6B475F8B0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Use prepared disease-specific large tables for training.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Store final artifacts separately from baseline comparison outputs.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Keep the meal recommendation layer downstream of verified risk inference.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8B56CF-3425-4527-BBC6-B7E7E69D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24DCB-D3FE-4840-96BC-C6F9029F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E0F196-C0A7-4082-BE27-0CE06CAD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22A4F-E14F-4073-97F3-D81F12C1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Why this approach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5CCED-6AB6-4FA6-B0BE-C588E755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review demo needs a working prediction path before a richer meal-calibration path.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A lighter model family makes deployment and terminal inference feasible.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same headings can be preserved while the content becomes implementation-driven.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322DB-D26D-4C32-94C5-2325B46B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429000" cy="2990850"/>
          </a:xfrm>
          <a:prstGeom xmlns:a="http://schemas.openxmlformats.org/drawingml/2006/main" prst="roundRect">
            <a:avLst>
              <a:gd name="adj" fmla="val 25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B92AA-BDA6-4B88-B8E1-4642F687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76200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61C004-AA84-486D-B787-38ECB16B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B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DF3CA1-8FA7-4747-BB3E-DD0BD64B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Current outcome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8BE567-8D2F-4CEA-BD6D-09AC58B5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0289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CKD final model: DecisionTreeClassifier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Hypertension final model: LogisticRegression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Diabetes final model: GaussianNB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5C35BE-1F4E-4DA0-95C7-B5F80E9F3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The model family is intentionally lighter than the earlier Random Forest artifacts to keep inference practical.</a:t>
            </a:r>
          </a:p>
        </p:txBody>
      </p:sp>
    </p:spTree>
    <p:extLst>
      <p:ext uri="{BB962C8B-B14F-4D97-AF65-F5344CB8AC3E}">
        <p14:creationId xmlns:p14="http://schemas.microsoft.com/office/powerpoint/2010/main" val="19252868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76E9F-093D-44DB-943D-30456DF2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Design Constraints, Assumptions &amp; Dependencies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6E5977-9F51-4413-B501-6E097484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11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D9B41E-E319-4962-896A-F9AE021C5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4C030-127E-4697-96F0-A2BE24E4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3C9A32-6FED-4F54-8BB4-5B571E1D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Design Constraints, Assumptions &amp; Dependencies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77409-5F49-4065-9B07-805A0C9F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Current constraints are mostly about data realism, deployability, and review-time clarity.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C24E4-3900-4EB4-B034-2F023DBC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34290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2C321-DA19-41C1-8F46-22AFE363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762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A7CAD-29D2-4B07-BE44-58ABAA90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4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0699F-B0C8-40F4-AAB0-C8CBFB6B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Constraints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0A6A4D-A64F-4965-9613-CE75E4C9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52750"/>
            <a:ext cx="3028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deck must reflect the exact repo outputs as of April 19, 2026.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Terminal samples must match the deployed feature schema.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Large-data training is required, but baseline comparison must still finish in reasonable time.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5D5C5-19F2-48E5-8BFA-B637AF7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34290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455B8-B9AD-4BD7-94DD-02CB7345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762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8B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EBAF01-C225-49B3-A07C-F170ED8B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955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AF1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D1F9D-183D-49E1-96AF-45F0005B2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527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Assumptions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66869-1F11-4A0C-ABB5-B18AB5A83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52750"/>
            <a:ext cx="3028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prepared large splits remain the active training source for this review snapshot.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Baseline comparisons are acceptable on a capped training subset as long as that is stated clearly.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The next coding step will continue from the saved artifacts already produced here.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58B189-D011-4E92-9A79-FD637D86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3429000" cy="3086100"/>
          </a:xfrm>
          <a:prstGeom xmlns:a="http://schemas.openxmlformats.org/drawingml/2006/main" prst="roundRect">
            <a:avLst>
              <a:gd name="adj" fmla="val 2469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F6608-FBA1-4A32-9CAA-AED674E5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43150"/>
            <a:ext cx="76200" cy="3086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E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1829DA-12AD-42FA-B7D8-968CB878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95550"/>
            <a:ext cx="3124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9EB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0E114-9708-4DBC-8A5C-A659A9AD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5270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A604B"/>
                </a:solidFill>
              </a:defRPr>
            </a:pPr>
            <a:r>
              <a:rPr sz="1125" b="1">
                <a:solidFill>
                  <a:srgbClr val="0A604B"/>
                </a:solidFill>
              </a:rPr>
              <a:t>Dependencies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53C4A8-5D94-409A-99A7-B4420518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52750"/>
            <a:ext cx="30289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Python + scikit-learn + imbalanced-learn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Saved artifacts under artifacts/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Benchmark and threshold reports under reports/current/</a:t>
            </a:r>
          </a:p>
          <a:p xmlns:a="http://schemas.openxmlformats.org/drawingml/2006/main">
            <a:pPr algn="l">
              <a:defRPr sz="1275" b="0">
                <a:solidFill>
                  <a:srgbClr val="16181A"/>
                </a:solidFill>
              </a:defRPr>
            </a:pPr>
            <a:r>
              <a:rPr sz="1275" b="0">
                <a:solidFill>
                  <a:srgbClr val="16181A"/>
                </a:solidFill>
              </a:rPr>
              <a:t>- Legacy diagram images for design-alignment slides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F5C68-3153-4C64-BC24-AD91D579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This makes the implementation state transparent without changing the original review structure.</a:t>
            </a:r>
          </a:p>
        </p:txBody>
      </p:sp>
    </p:spTree>
    <p:extLst>
      <p:ext uri="{BB962C8B-B14F-4D97-AF65-F5344CB8AC3E}">
        <p14:creationId xmlns:p14="http://schemas.microsoft.com/office/powerpoint/2010/main" val="10630824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9BC452-C9B7-498E-91D9-738BEC08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Architecture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B6D58-9CCA-4D25-A508-04A21B9A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12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05238-894F-4DE6-A1FF-7DE68B51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CD944E-B1D7-45B3-BBEB-4D479CA9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D339D-6DD7-480D-B0F3-4CFE7054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Architecture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99E1A7-1864-430B-AAFC-BF6EBB99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The architecture slide is preserved so the panel can compare design intent with the now-working model/report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FF2016-49AB-4E54-8C93-2AD81D09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56b212d674d27"/>
          <a:stretch xmlns:a="http://schemas.openxmlformats.org/drawingml/2006/main"/>
        </p:blipFill>
        <p:spPr>
          <a:xfrm xmlns:a="http://schemas.openxmlformats.org/drawingml/2006/main">
            <a:off x="2611864" y="2209800"/>
            <a:ext cx="6968273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E7AD7-417C-449B-AE71-391E8F69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Implemented now: preprocessing, final-model training, threshold report generation, terminal inference, and benchmark reporting.</a:t>
            </a:r>
          </a:p>
        </p:txBody>
      </p:sp>
    </p:spTree>
    <p:extLst>
      <p:ext uri="{BB962C8B-B14F-4D97-AF65-F5344CB8AC3E}">
        <p14:creationId xmlns:p14="http://schemas.microsoft.com/office/powerpoint/2010/main" val="7804912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6CE96-9A51-46F5-A5FF-C76D9BD78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Master Class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88D4A-B1AC-49D0-B930-BC59E9BD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13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522C1-8A47-46FD-9920-7E8368FD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5C74C-A86F-422C-9DB2-D6495911C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448B53-28B0-43AF-AB87-47D3F5FA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Master Class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33374C-C67E-4045-A1FB-3FF07C27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The original class-level view is retained for design continuity.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7A9168-00BC-4F5B-B4D2-88816736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b1dad8349a407e"/>
          <a:stretch xmlns:a="http://schemas.openxmlformats.org/drawingml/2006/main"/>
        </p:blipFill>
        <p:spPr>
          <a:xfrm xmlns:a="http://schemas.openxmlformats.org/drawingml/2006/main">
            <a:off x="2918691" y="2209800"/>
            <a:ext cx="6354617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7C74E-0364-42B2-9843-9B9094E0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Diagram asset reused from the ISA-1 review material.</a:t>
            </a:r>
          </a:p>
        </p:txBody>
      </p:sp>
    </p:spTree>
    <p:extLst>
      <p:ext uri="{BB962C8B-B14F-4D97-AF65-F5344CB8AC3E}">
        <p14:creationId xmlns:p14="http://schemas.microsoft.com/office/powerpoint/2010/main" val="9668017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C278F-6C34-4D0D-8AA4-A22DFC11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ER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27B111-50C2-4EC7-AAE9-4E85E1EE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14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19FBD-4388-4940-8A42-1F118AFB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46000F-84AB-422B-A8B4-A7865476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FD2847-5AC0-45C0-9081-3353BC31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ER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AFDF3D-60A4-468C-95DB-5AF84CFE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This remains useful for explaining how user, disease, meal, and report data fit together.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4E8541-9B96-4126-8EBD-1A4B21F6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dfcbf7235a4127"/>
          <a:stretch xmlns:a="http://schemas.openxmlformats.org/drawingml/2006/main"/>
        </p:blipFill>
        <p:spPr>
          <a:xfrm xmlns:a="http://schemas.openxmlformats.org/drawingml/2006/main">
            <a:off x="4476547" y="2209800"/>
            <a:ext cx="3238907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A2761-605A-49FE-90F6-10FC788F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Diagram asset reused from the ISA-1 review material.</a:t>
            </a:r>
          </a:p>
        </p:txBody>
      </p:sp>
    </p:spTree>
    <p:extLst>
      <p:ext uri="{BB962C8B-B14F-4D97-AF65-F5344CB8AC3E}">
        <p14:creationId xmlns:p14="http://schemas.microsoft.com/office/powerpoint/2010/main" val="85891949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495AA-F91E-41D4-846F-2EE72683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Use-Case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C24C4-F7D9-4D2D-B9BF-798DDE53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15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106C5-C894-46B8-8EBC-1954CC7C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3D93F6-CB30-4C33-A7D2-25EE2689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7D6F1A-CD6C-47FE-8188-50E8DB30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Use-Case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262C5-1113-4F5A-BEB5-9B0E1F98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The use-case view still reflects the intended journey once risk prediction connects into meal calibration.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8166CB-900C-4C02-8B8C-1FD6B11D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a205bfcca640b9"/>
          <a:stretch xmlns:a="http://schemas.openxmlformats.org/drawingml/2006/main"/>
        </p:blipFill>
        <p:spPr>
          <a:xfrm xmlns:a="http://schemas.openxmlformats.org/drawingml/2006/main">
            <a:off x="4462221" y="2209800"/>
            <a:ext cx="3267557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20D92F-DFB9-4B50-9DBF-C2E61E67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Diagram asset reused from the ISA-1 review material.</a:t>
            </a:r>
          </a:p>
        </p:txBody>
      </p:sp>
    </p:spTree>
    <p:extLst>
      <p:ext uri="{BB962C8B-B14F-4D97-AF65-F5344CB8AC3E}">
        <p14:creationId xmlns:p14="http://schemas.microsoft.com/office/powerpoint/2010/main" val="12062770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700AC-5C4B-49C2-A906-F6F7D9B4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External Interface Diagram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C7B7C-27EB-47C1-B140-D629A116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A604B"/>
                </a:solidFill>
              </a:defRPr>
            </a:pPr>
            <a:r>
              <a:rPr sz="1050" b="1">
                <a:solidFill>
                  <a:srgbClr val="0A604B"/>
                </a:solidFill>
              </a:rPr>
              <a:t>16 / 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921EE1-9EA0-4A78-A6C7-50C6DC8E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81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4C3EC-CD30-4615-918A-BFEE0C2C3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11430">
            <a:solidFill>
              <a:srgbClr val="16181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5EB50-98A2-49F4-AC20-ED0F51707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477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81A"/>
                </a:solidFill>
              </a:defRPr>
            </a:pPr>
            <a:r>
              <a:rPr sz="2550" b="1">
                <a:solidFill>
                  <a:srgbClr val="16181A"/>
                </a:solidFill>
              </a:rPr>
              <a:t>External Interface Diagram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872BDA-DE66-418E-A602-CD950AC1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46B"/>
                </a:solidFill>
              </a:defRPr>
            </a:pPr>
            <a:r>
              <a:rPr sz="1350" b="0">
                <a:solidFill>
                  <a:srgbClr val="5F646B"/>
                </a:solidFill>
              </a:rPr>
              <a:t>For this review, the clearest external interface is the working terminal and backend prediction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5F675-F7D8-41D3-A22C-A109D33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4057650"/>
          </a:xfrm>
          <a:prstGeom xmlns:a="http://schemas.openxmlformats.org/drawingml/2006/main" prst="roundRect">
            <a:avLst>
              <a:gd name="adj" fmla="val 187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3339b856c34ef9"/>
          <a:stretch xmlns:a="http://schemas.openxmlformats.org/drawingml/2006/main"/>
        </p:blipFill>
        <p:spPr>
          <a:xfrm xmlns:a="http://schemas.openxmlformats.org/drawingml/2006/main">
            <a:off x="3567592" y="2209800"/>
            <a:ext cx="5056817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51B5F-1F89-4015-97AB-9425F17E0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Terminal prediction now runs using the current lightweight deployed artifacts and schema-correct demo payloads.</a:t>
            </a:r>
          </a:p>
        </p:txBody>
      </p:sp>
    </p:spTree>
    <p:extLst>
      <p:ext uri="{BB962C8B-B14F-4D97-AF65-F5344CB8AC3E}">
        <p14:creationId xmlns:p14="http://schemas.microsoft.com/office/powerpoint/2010/main" val="91275624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3CDD311-80B3-4D3C-A2C9-254D99CE5E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4CC27-D286-4138-AAA6-7B331C10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52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6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804AED-8280-4319-A274-212DE340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4000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6181A"/>
                </a:solidFill>
              </a:defRPr>
            </a:pPr>
            <a:r>
              <a:rPr sz="3900" b="1">
                <a:solidFill>
                  <a:srgbClr val="16181A"/>
                </a:solidFill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189A7-997A-48DB-87D7-EE8BD78A1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7450"/>
            <a:ext cx="6477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46B"/>
                </a:solidFill>
              </a:defRPr>
            </a:pPr>
            <a:r>
              <a:rPr sz="1800" b="0">
                <a:solidFill>
                  <a:srgbClr val="5F646B"/>
                </a:solidFill>
              </a:rPr>
              <a:t>Current status:</a:t>
            </a:r>
          </a:p>
          <a:p xmlns:a="http://schemas.openxmlformats.org/drawingml/2006/main">
            <a:pPr algn="l">
              <a:defRPr sz="1800" b="0">
                <a:solidFill>
                  <a:srgbClr val="5F646B"/>
                </a:solidFill>
              </a:defRPr>
            </a:pPr>
            <a:r>
              <a:rPr sz="1800" b="0">
                <a:solidFill>
                  <a:srgbClr val="5F646B"/>
                </a:solidFill>
              </a:rPr>
              <a:t>- project-final models retrained</a:t>
            </a:r>
          </a:p>
          <a:p xmlns:a="http://schemas.openxmlformats.org/drawingml/2006/main">
            <a:pPr algn="l">
              <a:defRPr sz="1800" b="0">
                <a:solidFill>
                  <a:srgbClr val="5F646B"/>
                </a:solidFill>
              </a:defRPr>
            </a:pPr>
            <a:r>
              <a:rPr sz="1800" b="0">
                <a:solidFill>
                  <a:srgbClr val="5F646B"/>
                </a:solidFill>
              </a:rPr>
              <a:t>- terminal prediction working</a:t>
            </a:r>
          </a:p>
          <a:p xmlns:a="http://schemas.openxmlformats.org/drawingml/2006/main">
            <a:pPr algn="l">
              <a:defRPr sz="1800" b="0">
                <a:solidFill>
                  <a:srgbClr val="5F646B"/>
                </a:solidFill>
              </a:defRPr>
            </a:pPr>
            <a:r>
              <a:rPr sz="1800" b="0">
                <a:solidFill>
                  <a:srgbClr val="5F646B"/>
                </a:solidFill>
              </a:rPr>
              <a:t>- screenshot commands documented</a:t>
            </a:r>
          </a:p>
          <a:p xmlns:a="http://schemas.openxmlformats.org/drawingml/2006/main">
            <a:pPr algn="l">
              <a:defRPr sz="1800" b="0">
                <a:solidFill>
                  <a:srgbClr val="5F646B"/>
                </a:solidFill>
              </a:defRPr>
            </a:pPr>
            <a:r>
              <a:rPr sz="1800" b="0">
                <a:solidFill>
                  <a:srgbClr val="5F646B"/>
                </a:solidFill>
              </a:rPr>
              <a:t>- comparison graph added</a:t>
            </a:r>
          </a:p>
          <a:p xmlns:a="http://schemas.openxmlformats.org/drawingml/2006/main">
            <a:pPr algn="l">
              <a:defRPr sz="1800" b="0">
                <a:solidFill>
                  <a:srgbClr val="5F646B"/>
                </a:solidFill>
              </a:defRPr>
            </a:pPr>
            <a:r>
              <a:rPr sz="1800" b="0">
                <a:solidFill>
                  <a:srgbClr val="5F646B"/>
                </a:solidFill>
              </a:rPr>
              <a:t>- dataset rows, columns, and source sites documented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46B"/>
                </a:solidFill>
              </a:defRPr>
            </a:pPr>
            <a:r>
              <a:rPr sz="1800" b="0">
                <a:solidFill>
                  <a:srgbClr val="5F646B"/>
                </a:solidFill>
              </a:rPr>
              <a:t>Next step: continue the implementation with raw-input mapping and then reconnect risk into diet calibration.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54DB99-1B23-4CB1-B558-DFAEC78B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30480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11430">
            <a:solidFill>
              <a:srgbClr val="D6CDB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40ABB-7AAE-4272-B4B1-9A34D36C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181A"/>
                </a:solidFill>
              </a:defRPr>
            </a:pPr>
            <a:r>
              <a:rPr sz="1800" b="1">
                <a:solidFill>
                  <a:srgbClr val="16181A"/>
                </a:solidFill>
              </a:rPr>
              <a:t>Final models</a:t>
            </a:r>
          </a:p>
          <a:p xmlns:a="http://schemas.openxmlformats.org/drawingml/2006/main">
            <a:pPr algn="ctr">
              <a:defRPr sz="1800" b="1">
                <a:solidFill>
                  <a:srgbClr val="16181A"/>
                </a:solidFill>
              </a:defRPr>
            </a:pPr>
            <a:r>
              <a:rPr sz="1800" b="1">
                <a:solidFill>
                  <a:srgbClr val="16181A"/>
                </a:solidFill>
              </a:rPr>
              <a:t>CKD: DecisionTree</a:t>
            </a:r>
          </a:p>
          <a:p xmlns:a="http://schemas.openxmlformats.org/drawingml/2006/main">
            <a:pPr algn="ctr">
              <a:defRPr sz="1800" b="1">
                <a:solidFill>
                  <a:srgbClr val="16181A"/>
                </a:solidFill>
              </a:defRPr>
            </a:pPr>
            <a:r>
              <a:rPr sz="1800" b="1">
                <a:solidFill>
                  <a:srgbClr val="16181A"/>
                </a:solidFill>
              </a:rPr>
              <a:t>HTN: LogisticRegression</a:t>
            </a:r>
          </a:p>
          <a:p xmlns:a="http://schemas.openxmlformats.org/drawingml/2006/main">
            <a:pPr algn="ctr">
              <a:defRPr sz="1800" b="1">
                <a:solidFill>
                  <a:srgbClr val="16181A"/>
                </a:solidFill>
              </a:defRPr>
            </a:pPr>
            <a:r>
              <a:rPr sz="1800" b="1">
                <a:solidFill>
                  <a:srgbClr val="16181A"/>
                </a:solidFill>
              </a:rPr>
              <a:t>DIAB: GaussianNB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16181A"/>
                </a:solidFill>
              </a:defRPr>
            </a:pPr>
            <a:r>
              <a:rPr sz="1800" b="1">
                <a:solidFill>
                  <a:srgbClr val="16181A"/>
                </a:solidFill>
              </a:rPr>
              <a:t>Full-train rows</a:t>
            </a:r>
          </a:p>
          <a:p xmlns:a="http://schemas.openxmlformats.org/drawingml/2006/main">
            <a:pPr algn="ctr">
              <a:defRPr sz="1800" b="1">
                <a:solidFill>
                  <a:srgbClr val="16181A"/>
                </a:solidFill>
              </a:defRPr>
            </a:pPr>
            <a:r>
              <a:rPr sz="1800" b="1">
                <a:solidFill>
                  <a:srgbClr val="16181A"/>
                </a:solidFill>
              </a:rPr>
              <a:t>690,956 | 785,242 | 754,970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2D74D-8A42-44B0-9AC7-B38290EC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0934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F646B"/>
                </a:solidFill>
              </a:defRPr>
            </a:pPr>
            <a:r>
              <a:rPr sz="750" b="0">
                <a:solidFill>
                  <a:srgbClr val="5F646B"/>
                </a:solidFill>
              </a:rPr>
              <a:t>Deck follows the exact ISA-1 heading sequence extracted from the legacy review PDF.</a:t>
            </a:r>
          </a:p>
        </p:txBody>
      </p:sp>
    </p:spTree>
    <p:extLst>
      <p:ext uri="{BB962C8B-B14F-4D97-AF65-F5344CB8AC3E}">
        <p14:creationId xmlns:p14="http://schemas.microsoft.com/office/powerpoint/2010/main" val="444218217"/>
      </p:ext>
    </p:extLst>
  </p:cSld>
</p:sld>
</file>

<file path=ppt/theme/theme1.xml><?xml version="1.0" encoding="utf-8"?>
<a:theme xmlns:a="http://schemas.openxmlformats.org/drawingml/2006/main" name="Capstone Review Refresh">
  <a:themeElements>
    <a:clrScheme name="Capstone Review Refresh">
      <a:accent1>
        <a:srgbClr val="0F8B6D"/>
      </a:accent1>
      <a:accent2>
        <a:srgbClr val="D08B28"/>
      </a:accent2>
      <a:accent3>
        <a:srgbClr val="D95E4A"/>
      </a:accent3>
      <a:accent4>
        <a:srgbClr val="6789D6"/>
      </a:accent4>
      <a:accent5>
        <a:srgbClr val="7CB5AE"/>
      </a:accent5>
      <a:accent6>
        <a:srgbClr val="B77AC5"/>
      </a:accent6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apstone Review Refresh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2026-04-19T15:57:40.3450000Z</dcterms:created>
  <dcterms:modified xsi:type="dcterms:W3CDTF">2026-04-19T15:57:40.3450000Z</dcterms:modified>
</coreProperties>
</file>