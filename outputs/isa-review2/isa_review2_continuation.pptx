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fea0e1fe9144dc" /><Relationship Type="http://schemas.openxmlformats.org/officeDocument/2006/relationships/extended-properties" Target="/docProps/app.xml" Id="R26144647eb414022" /><Relationship Type="http://schemas.openxmlformats.org/officeDocument/2006/relationships/officeDocument" Target="/ppt/presentation.xml" Id="Rf07157e137754d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56c0c33ecd4018"/>
  </p:sldMasterIdLst>
  <p:notesMasterIdLst>
    <p:notesMasterId xmlns:r="http://schemas.openxmlformats.org/officeDocument/2006/relationships" r:id="Re22fc0e7f0cb4b28"/>
  </p:notesMasterIdLst>
  <p:sldIdLst>
    <p:sldId xmlns:r="http://schemas.openxmlformats.org/officeDocument/2006/relationships" id="256" r:id="R50fcab66d1214fbb"/>
    <p:sldId xmlns:r="http://schemas.openxmlformats.org/officeDocument/2006/relationships" id="257" r:id="Rc7975d7868ae4b3a"/>
    <p:sldId xmlns:r="http://schemas.openxmlformats.org/officeDocument/2006/relationships" id="258" r:id="R6c32ccd51693450a"/>
    <p:sldId xmlns:r="http://schemas.openxmlformats.org/officeDocument/2006/relationships" id="259" r:id="R3400c16648f84e88"/>
    <p:sldId xmlns:r="http://schemas.openxmlformats.org/officeDocument/2006/relationships" id="260" r:id="R6cbf73f891cd402b"/>
    <p:sldId xmlns:r="http://schemas.openxmlformats.org/officeDocument/2006/relationships" id="261" r:id="R14c008ed6fab41b3"/>
    <p:sldId xmlns:r="http://schemas.openxmlformats.org/officeDocument/2006/relationships" id="262" r:id="R766940ae23654fa4"/>
    <p:sldId xmlns:r="http://schemas.openxmlformats.org/officeDocument/2006/relationships" id="263" r:id="R2399110b03724b5a"/>
    <p:sldId xmlns:r="http://schemas.openxmlformats.org/officeDocument/2006/relationships" id="264" r:id="R0267fb6df08141c1"/>
    <p:sldId xmlns:r="http://schemas.openxmlformats.org/officeDocument/2006/relationships" id="265" r:id="R97ae37762cf2495e"/>
    <p:sldId xmlns:r="http://schemas.openxmlformats.org/officeDocument/2006/relationships" id="266" r:id="Rcc502ecb505f4691"/>
    <p:sldId xmlns:r="http://schemas.openxmlformats.org/officeDocument/2006/relationships" id="267" r:id="R83b2ddf9fa6a4fd9"/>
    <p:sldId xmlns:r="http://schemas.openxmlformats.org/officeDocument/2006/relationships" id="268" r:id="Rc77c4ffdeef7469e"/>
    <p:sldId xmlns:r="http://schemas.openxmlformats.org/officeDocument/2006/relationships" id="269" r:id="R59f403b85fe142c7"/>
    <p:sldId xmlns:r="http://schemas.openxmlformats.org/officeDocument/2006/relationships" id="270" r:id="Rbbd929b2d6224b7d"/>
    <p:sldId xmlns:r="http://schemas.openxmlformats.org/officeDocument/2006/relationships" id="271" r:id="R10d38e036ce84516"/>
    <p:sldId xmlns:r="http://schemas.openxmlformats.org/officeDocument/2006/relationships" id="272" r:id="Rb48d245e2f2a4b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6c0c33ecd4018" /><Relationship Type="http://schemas.openxmlformats.org/officeDocument/2006/relationships/theme" Target="/ppt/theme/theme1.xml" Id="R7452f02d06874c30" /><Relationship Type="http://schemas.openxmlformats.org/officeDocument/2006/relationships/notesMaster" Target="/ppt/notesMasters/notesMaster1.xml" Id="Re22fc0e7f0cb4b28" /><Relationship Type="http://schemas.openxmlformats.org/officeDocument/2006/relationships/presProps" Target="/ppt/presProps.xml" Id="R54fe20d956db4167" /><Relationship Type="http://schemas.openxmlformats.org/officeDocument/2006/relationships/viewProps" Target="/ppt/viewProps.xml" Id="R40a81ed2786f48be" /><Relationship Type="http://schemas.openxmlformats.org/officeDocument/2006/relationships/tableStyles" Target="/ppt/tableStyles.xml" Id="R6a113f0679174e12" /><Relationship Type="http://schemas.openxmlformats.org/officeDocument/2006/relationships/slide" Target="/ppt/slides/slide1.xml" Id="R50fcab66d1214fbb" /><Relationship Type="http://schemas.openxmlformats.org/officeDocument/2006/relationships/slide" Target="/ppt/slides/slide2.xml" Id="Rc7975d7868ae4b3a" /><Relationship Type="http://schemas.openxmlformats.org/officeDocument/2006/relationships/slide" Target="/ppt/slides/slide3.xml" Id="R6c32ccd51693450a" /><Relationship Type="http://schemas.openxmlformats.org/officeDocument/2006/relationships/slide" Target="/ppt/slides/slide4.xml" Id="R3400c16648f84e88" /><Relationship Type="http://schemas.openxmlformats.org/officeDocument/2006/relationships/slide" Target="/ppt/slides/slide5.xml" Id="R6cbf73f891cd402b" /><Relationship Type="http://schemas.openxmlformats.org/officeDocument/2006/relationships/slide" Target="/ppt/slides/slide6.xml" Id="R14c008ed6fab41b3" /><Relationship Type="http://schemas.openxmlformats.org/officeDocument/2006/relationships/slide" Target="/ppt/slides/slide7.xml" Id="R766940ae23654fa4" /><Relationship Type="http://schemas.openxmlformats.org/officeDocument/2006/relationships/slide" Target="/ppt/slides/slide8.xml" Id="R2399110b03724b5a" /><Relationship Type="http://schemas.openxmlformats.org/officeDocument/2006/relationships/slide" Target="/ppt/slides/slide9.xml" Id="R0267fb6df08141c1" /><Relationship Type="http://schemas.openxmlformats.org/officeDocument/2006/relationships/slide" Target="/ppt/slides/slide10.xml" Id="R97ae37762cf2495e" /><Relationship Type="http://schemas.openxmlformats.org/officeDocument/2006/relationships/slide" Target="/ppt/slides/slide11.xml" Id="Rcc502ecb505f4691" /><Relationship Type="http://schemas.openxmlformats.org/officeDocument/2006/relationships/slide" Target="/ppt/slides/slide12.xml" Id="R83b2ddf9fa6a4fd9" /><Relationship Type="http://schemas.openxmlformats.org/officeDocument/2006/relationships/slide" Target="/ppt/slides/slide13.xml" Id="Rc77c4ffdeef7469e" /><Relationship Type="http://schemas.openxmlformats.org/officeDocument/2006/relationships/slide" Target="/ppt/slides/slide14.xml" Id="R59f403b85fe142c7" /><Relationship Type="http://schemas.openxmlformats.org/officeDocument/2006/relationships/slide" Target="/ppt/slides/slide15.xml" Id="Rbbd929b2d6224b7d" /><Relationship Type="http://schemas.openxmlformats.org/officeDocument/2006/relationships/slide" Target="/ppt/slides/slide16.xml" Id="R10d38e036ce84516" /><Relationship Type="http://schemas.openxmlformats.org/officeDocument/2006/relationships/slide" Target="/ppt/slides/slide17.xml" Id="Rb48d245e2f2a4b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ef3d97017da40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apstone Review">
  <a:themeElements>
    <a:clrScheme name="Capstone Review">
      <a:accent1>
        <a:srgbClr val="0D8F68"/>
      </a:accent1>
      <a:accent2>
        <a:srgbClr val="D89A2B"/>
      </a:accent2>
      <a:accent3>
        <a:srgbClr val="E86E54"/>
      </a:accent3>
      <a:accent4>
        <a:srgbClr val="6B86E8"/>
      </a:accent4>
      <a:accent5>
        <a:srgbClr val="9A6DD7"/>
      </a:accent5>
      <a:accent6>
        <a:srgbClr val="6FB0AA"/>
      </a:accent6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pstone Review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c288daea3a440c" /><Relationship Type="http://schemas.openxmlformats.org/officeDocument/2006/relationships/notesMaster" Target="/ppt/notesMasters/notesMaster1.xml" Id="Rcaf5916a503d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3a445ff43449c0" /><Relationship Type="http://schemas.openxmlformats.org/officeDocument/2006/relationships/notesMaster" Target="/ppt/notesMasters/notesMaster1.xml" Id="Rd3b26c0df1884e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f69d61d4464de7" /><Relationship Type="http://schemas.openxmlformats.org/officeDocument/2006/relationships/notesMaster" Target="/ppt/notesMasters/notesMaster1.xml" Id="Rec69b20f8e6b4e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bd516634e1485f" /><Relationship Type="http://schemas.openxmlformats.org/officeDocument/2006/relationships/notesMaster" Target="/ppt/notesMasters/notesMaster1.xml" Id="R810a32219d614c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d4c6d77f174eeb" /><Relationship Type="http://schemas.openxmlformats.org/officeDocument/2006/relationships/notesMaster" Target="/ppt/notesMasters/notesMaster1.xml" Id="R5b7b03ae1d0c4e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3b925e49b24514" /><Relationship Type="http://schemas.openxmlformats.org/officeDocument/2006/relationships/notesMaster" Target="/ppt/notesMasters/notesMaster1.xml" Id="Re41a06a9d96a46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3a5637492e425e" /><Relationship Type="http://schemas.openxmlformats.org/officeDocument/2006/relationships/notesMaster" Target="/ppt/notesMasters/notesMaster1.xml" Id="Rf0903d9e90c347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fcc374042c4350" /><Relationship Type="http://schemas.openxmlformats.org/officeDocument/2006/relationships/notesMaster" Target="/ppt/notesMasters/notesMaster1.xml" Id="R743d6426f7b346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00d8f17ee34af3" /><Relationship Type="http://schemas.openxmlformats.org/officeDocument/2006/relationships/notesMaster" Target="/ppt/notesMasters/notesMaster1.xml" Id="R6bb395be07bd43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d8dc27c0714cb5" /><Relationship Type="http://schemas.openxmlformats.org/officeDocument/2006/relationships/notesMaster" Target="/ppt/notesMasters/notesMaster1.xml" Id="R56b60eab471b4a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b3711eff7347d9" /><Relationship Type="http://schemas.openxmlformats.org/officeDocument/2006/relationships/notesMaster" Target="/ppt/notesMasters/notesMaster1.xml" Id="R74ea8b031f344c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9a6f337ff24359" /><Relationship Type="http://schemas.openxmlformats.org/officeDocument/2006/relationships/notesMaster" Target="/ppt/notesMasters/notesMaster1.xml" Id="R1e5e22ec717946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eed4f5eb904ca0" /><Relationship Type="http://schemas.openxmlformats.org/officeDocument/2006/relationships/notesMaster" Target="/ppt/notesMasters/notesMaster1.xml" Id="R388eaa5986d643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1b10aabafe43ef" /><Relationship Type="http://schemas.openxmlformats.org/officeDocument/2006/relationships/notesMaster" Target="/ppt/notesMasters/notesMaster1.xml" Id="R8837851f75d44f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1ba98a132b4119" /><Relationship Type="http://schemas.openxmlformats.org/officeDocument/2006/relationships/notesMaster" Target="/ppt/notesMasters/notesMaster1.xml" Id="Ra2e48f5a1af848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0ce4a9400947a5" /><Relationship Type="http://schemas.openxmlformats.org/officeDocument/2006/relationships/notesMaster" Target="/ppt/notesMasters/notesMaster1.xml" Id="Ra8ca805a61314d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615157135f4f7f" /><Relationship Type="http://schemas.openxmlformats.org/officeDocument/2006/relationships/notesMaster" Target="/ppt/notesMasters/notesMaster1.xml" Id="R417812bb4ed246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243cfca2f49b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8371AA8D-B9ED-4DCA-8738-C6D8E1EB8869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3754385-F18A-476F-B925-A030F1FF265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4E801D-75C5-4A7A-AAAF-C53F4DE05F6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637A52-65D9-4623-9161-1C0239A5E56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494de86ba024674" /><Relationship Type="http://schemas.openxmlformats.org/officeDocument/2006/relationships/slideLayout" Target="/ppt/slideLayouts/slideLayout2.xml" Id="Rc3a031d3d56845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6D1689-5EC0-4C3F-A486-9BF343992EB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a031d3d56845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b8fb0dbd9c4623" /><Relationship Type="http://schemas.openxmlformats.org/officeDocument/2006/relationships/notesSlide" Target="/ppt/notesSlides/notesSlide1.xml" Id="Rbcf3cc9df13b40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d13ff129af4f0b" /><Relationship Type="http://schemas.openxmlformats.org/officeDocument/2006/relationships/notesSlide" Target="/ppt/notesSlides/notesSlide2.xml" Id="R5977b290129246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17c8c603ab441e" /><Relationship Type="http://schemas.openxmlformats.org/officeDocument/2006/relationships/notesSlide" Target="/ppt/notesSlides/notesSlide3.xml" Id="R9a6e95c871cc42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b7e2f012b2489f" /><Relationship Type="http://schemas.openxmlformats.org/officeDocument/2006/relationships/notesSlide" Target="/ppt/notesSlides/notesSlide4.xml" Id="R89b6a3e1094147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00b434928643e0" /><Relationship Type="http://schemas.openxmlformats.org/officeDocument/2006/relationships/notesSlide" Target="/ppt/notesSlides/notesSlide5.xml" Id="R06008a82514043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3625bf925743c0" /><Relationship Type="http://schemas.openxmlformats.org/officeDocument/2006/relationships/notesSlide" Target="/ppt/notesSlides/notesSlide6.xml" Id="R1e141983877244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391f9b8cd14924" /><Relationship Type="http://schemas.openxmlformats.org/officeDocument/2006/relationships/notesSlide" Target="/ppt/notesSlides/notesSlide7.xml" Id="R84df96e5955742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dd60526d8f4831" /><Relationship Type="http://schemas.openxmlformats.org/officeDocument/2006/relationships/notesSlide" Target="/ppt/notesSlides/notesSlide8.xml" Id="R3d6683347e0b42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36ea920af8430a" /><Relationship Type="http://schemas.openxmlformats.org/officeDocument/2006/relationships/chart" Target="/ppt/slides/charts/chart1.xml" Id="Rebaf9f1505ac4ef4" /><Relationship Type="http://schemas.openxmlformats.org/officeDocument/2006/relationships/notesSlide" Target="/ppt/notesSlides/notesSlide9.xml" Id="Ra982ca2bc5ec43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35477acb8e49c6" /><Relationship Type="http://schemas.openxmlformats.org/officeDocument/2006/relationships/notesSlide" Target="/ppt/notesSlides/notesSlide10.xml" Id="R3c5b6b91790147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ca965dc8bf4368" /><Relationship Type="http://schemas.openxmlformats.org/officeDocument/2006/relationships/notesSlide" Target="/ppt/notesSlides/notesSlide11.xml" Id="Rab4d03d628424e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6334ac24bb43ff" /><Relationship Type="http://schemas.openxmlformats.org/officeDocument/2006/relationships/image" Target="/ppt/media/image.png" Id="R99c1585e98504c9d" /><Relationship Type="http://schemas.openxmlformats.org/officeDocument/2006/relationships/notesSlide" Target="/ppt/notesSlides/notesSlide12.xml" Id="Rc7d5ca7d937d4c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7c98e33c21400a" /><Relationship Type="http://schemas.openxmlformats.org/officeDocument/2006/relationships/image" Target="/ppt/media/image.jpeg" Id="R063d5085be9c4ec4" /><Relationship Type="http://schemas.openxmlformats.org/officeDocument/2006/relationships/notesSlide" Target="/ppt/notesSlides/notesSlide13.xml" Id="R3f1d1d724aa842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26d976e05f4a7f" /><Relationship Type="http://schemas.openxmlformats.org/officeDocument/2006/relationships/image" Target="/ppt/media/image2.jpeg" Id="Rc881b203965a4bde" /><Relationship Type="http://schemas.openxmlformats.org/officeDocument/2006/relationships/notesSlide" Target="/ppt/notesSlides/notesSlide14.xml" Id="R227cd8e88d864e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7632b64ae3493d" /><Relationship Type="http://schemas.openxmlformats.org/officeDocument/2006/relationships/image" Target="/ppt/media/image3.jpeg" Id="R54f0394b8f764c87" /><Relationship Type="http://schemas.openxmlformats.org/officeDocument/2006/relationships/notesSlide" Target="/ppt/notesSlides/notesSlide15.xml" Id="R445702e531ef42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e51d9343954877" /><Relationship Type="http://schemas.openxmlformats.org/officeDocument/2006/relationships/image" Target="/ppt/media/image2.png" Id="R9583894922fe477a" /><Relationship Type="http://schemas.openxmlformats.org/officeDocument/2006/relationships/notesSlide" Target="/ppt/notesSlides/notesSlide16.xml" Id="Re2626d46df094d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942ec5d94a4539" /><Relationship Type="http://schemas.openxmlformats.org/officeDocument/2006/relationships/notesSlide" Target="/ppt/notesSlides/notesSlide17.xml" Id="R902c5c66e891490f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Macro F1 Comparison Across Diseases</a:t>
            </a:r>
          </a:p>
        </c:rich>
      </c:tx>
      <c:overlay val="0"/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Project model (RF)</c:v>
          </c:tx>
          <c:cat>
            <c:strLit>
              <c:ptCount val="3"/>
              <c:pt idx="0">
                <c:v>CKD</c:v>
              </c:pt>
              <c:pt idx="1">
                <c:v>Hypertension</c:v>
              </c:pt>
              <c:pt idx="2">
                <c:v>Diabetes</c:v>
              </c:pt>
            </c:strLit>
          </c:cat>
          <c:val>
            <c:numLit>
              <c:formatCode/>
              <c:ptCount val="3"/>
              <c:pt idx="0">
                <c:v>0.986753</c:v>
              </c:pt>
              <c:pt idx="1">
                <c:v>0.876365</c:v>
              </c:pt>
              <c:pt idx="2">
                <c:v>0.717456</c:v>
              </c:pt>
            </c:numLit>
          </c:val>
        </c:ser>
        <c:ser>
          <c:idx val="1"/>
          <c:order val="1"/>
          <c:tx>
            <c:v>Logistic Regression</c:v>
          </c:tx>
          <c:cat>
            <c:strLit>
              <c:ptCount val="3"/>
              <c:pt idx="0">
                <c:v>CKD</c:v>
              </c:pt>
              <c:pt idx="1">
                <c:v>Hypertension</c:v>
              </c:pt>
              <c:pt idx="2">
                <c:v>Diabetes</c:v>
              </c:pt>
            </c:strLit>
          </c:cat>
          <c:val>
            <c:numLit>
              <c:formatCode/>
              <c:ptCount val="3"/>
              <c:pt idx="0">
                <c:v>0.960727</c:v>
              </c:pt>
              <c:pt idx="1">
                <c:v>0.852698</c:v>
              </c:pt>
              <c:pt idx="2">
                <c:v>0.69777</c:v>
              </c:pt>
            </c:numLit>
          </c:val>
        </c:ser>
        <c:ser>
          <c:idx val="2"/>
          <c:order val="2"/>
          <c:tx>
            <c:v>Decision Tree</c:v>
          </c:tx>
          <c:cat>
            <c:strLit>
              <c:ptCount val="3"/>
              <c:pt idx="0">
                <c:v>CKD</c:v>
              </c:pt>
              <c:pt idx="1">
                <c:v>Hypertension</c:v>
              </c:pt>
              <c:pt idx="2">
                <c:v>Diabetes</c:v>
              </c:pt>
            </c:strLit>
          </c:cat>
          <c:val>
            <c:numLit>
              <c:formatCode/>
              <c:ptCount val="3"/>
              <c:pt idx="0">
                <c:v>0.934544</c:v>
              </c:pt>
              <c:pt idx="1">
                <c:v>0.849116</c:v>
              </c:pt>
              <c:pt idx="2">
                <c:v>0.686296</c:v>
              </c:pt>
            </c:numLit>
          </c:val>
        </c:ser>
        <c:ser>
          <c:idx val="3"/>
          <c:order val="3"/>
          <c:tx>
            <c:v>KNN</c:v>
          </c:tx>
          <c:cat>
            <c:strLit>
              <c:ptCount val="3"/>
              <c:pt idx="0">
                <c:v>CKD</c:v>
              </c:pt>
              <c:pt idx="1">
                <c:v>Hypertension</c:v>
              </c:pt>
              <c:pt idx="2">
                <c:v>Diabetes</c:v>
              </c:pt>
            </c:strLit>
          </c:cat>
          <c:val>
            <c:numLit>
              <c:formatCode/>
              <c:ptCount val="3"/>
              <c:pt idx="0">
                <c:v>0.960727</c:v>
              </c:pt>
              <c:pt idx="1">
                <c:v>0.798906</c:v>
              </c:pt>
              <c:pt idx="2">
                <c:v>0.683585</c:v>
              </c:pt>
            </c:numLit>
          </c:val>
        </c:ser>
        <c:ser>
          <c:idx val="4"/>
          <c:order val="4"/>
          <c:tx>
            <c:v>Gaussian NB</c:v>
          </c:tx>
          <c:cat>
            <c:strLit>
              <c:ptCount val="3"/>
              <c:pt idx="0">
                <c:v>CKD</c:v>
              </c:pt>
              <c:pt idx="1">
                <c:v>Hypertension</c:v>
              </c:pt>
              <c:pt idx="2">
                <c:v>Diabetes</c:v>
              </c:pt>
            </c:strLit>
          </c:cat>
          <c:val>
            <c:numLit>
              <c:formatCode/>
              <c:ptCount val="3"/>
              <c:pt idx="0">
                <c:v>0.960727</c:v>
              </c:pt>
              <c:pt idx="1">
                <c:v>0.777585</c:v>
              </c:pt>
              <c:pt idx="2">
                <c:v>0.668381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C3DE7-3AC6-4FEE-B891-A3A7855A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6F028-2B5E-4E72-9DB6-15DF056D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5E45"/>
                </a:solidFill>
              </a:defRPr>
            </a:pPr>
            <a:r>
              <a:rPr sz="1125" b="1">
                <a:solidFill>
                  <a:srgbClr val="0A5E45"/>
                </a:solidFill>
              </a:rPr>
              <a:t>UE23CS320A – Project Phase 2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80852-DC1F-4ABD-81FA-6A4ED80B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762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71A"/>
                </a:solidFill>
              </a:defRPr>
            </a:pPr>
            <a:r>
              <a:rPr sz="3300" b="1">
                <a:solidFill>
                  <a:srgbClr val="15171A"/>
                </a:solidFill>
              </a:rPr>
              <a:t>A Deep Learning and Generative AI-Driven Diet Recommendation System for Personalized Chronic Disease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8B94D-D81F-4A85-9930-5CB0F527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647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666D"/>
                </a:solidFill>
              </a:defRPr>
            </a:pPr>
            <a:r>
              <a:rPr sz="1500" b="0">
                <a:solidFill>
                  <a:srgbClr val="61666D"/>
                </a:solidFill>
              </a:rPr>
              <a:t>Phase 2 review deck aligned to the ISA structure, updated with current preprocessing, model benchmarking, and terminal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90484-7594-4D17-8E3B-EBD9F4C2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4572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51CBC-BEDF-401F-8B25-D7ACBE06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4114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71A"/>
                </a:solidFill>
              </a:defRPr>
            </a:pPr>
            <a:r>
              <a:rPr sz="1350" b="1">
                <a:solidFill>
                  <a:srgbClr val="15171A"/>
                </a:solidFill>
              </a:rPr>
              <a:t>Project ID: 17</a:t>
            </a:r>
          </a:p>
          <a:p xmlns:a="http://schemas.openxmlformats.org/drawingml/2006/main">
            <a:pPr algn="l">
              <a:defRPr sz="1350" b="1">
                <a:solidFill>
                  <a:srgbClr val="15171A"/>
                </a:solidFill>
              </a:defRPr>
            </a:pPr>
            <a:r>
              <a:rPr sz="1350" b="1">
                <a:solidFill>
                  <a:srgbClr val="15171A"/>
                </a:solidFill>
              </a:rPr>
              <a:t>Guide: Dr. Saritha</a:t>
            </a:r>
          </a:p>
          <a:p xmlns:a="http://schemas.openxmlformats.org/drawingml/2006/main">
            <a:pPr algn="l">
              <a:defRPr sz="1350" b="1">
                <a:solidFill>
                  <a:srgbClr val="15171A"/>
                </a:solidFill>
              </a:defRPr>
            </a:pPr>
            <a:r>
              <a:rPr sz="1350" b="1">
                <a:solidFill>
                  <a:srgbClr val="15171A"/>
                </a:solidFill>
              </a:rPr>
              <a:t>Team: Vatsal Jain | Vivek Tutika | Pranav Shetty | Sourabh S Hegde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12661-0C2E-4487-8560-74316EB9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Updated review deck prepared from the current repository state on April 19, 2026.</a:t>
            </a:r>
          </a:p>
        </p:txBody>
      </p:sp>
    </p:spTree>
    <p:extLst>
      <p:ext uri="{BB962C8B-B14F-4D97-AF65-F5344CB8AC3E}">
        <p14:creationId xmlns:p14="http://schemas.microsoft.com/office/powerpoint/2010/main" val="1028031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55416-C407-4F4D-9E90-B281D3B3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25C08-6D82-4D7D-A8BB-66BEB760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02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446A7-EB09-4E8A-9823-96B94A49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77FA1-0DD6-4BD0-99E4-0778CB49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EEACC-1607-45E0-966C-28D8A000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Problem Statement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81035-0570-4196-9D54-4688914C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The core challenge remains adaptive and medically safe nutrition guidance for chronic disease patients.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42C64-97F9-4307-BBF0-FF82A4AE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429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75924-410A-4AA7-AE7E-28DD3DBD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762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D2CF1-FC87-47CC-AEC6-9FCE8B12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Clinical Gaps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24575-B38D-4307-9995-AF2E301B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028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Existing diet tools are still mostly generic and one-size-fits-all.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Patients need disease-aware recommendations for CKD, diabetes, and hypertension.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Trust falls when the system cannot explain risk or adapt to real intake patterns.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4FC87-DCF3-4CE5-946B-05CA8476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A1F61-9E44-404E-BCEE-CC4AEBF2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762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A1828-0B39-44F9-8265-E6B0CF60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System Gaps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F084E-1E4F-43DB-A3A1-2D2CD8D5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4650"/>
            <a:ext cx="3028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No dynamic feedback loop means meal deviations are rarely recalibrated safely.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Risk prediction fails if preprocessing collapses important clinical features.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A robust backend needs both predictive accuracy and clear deployment logic.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BD2BB-6E8E-471C-8476-A6414BCE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429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1C5486-ADAE-490C-B211-BB260898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762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314E0-A40F-429B-A0D4-AF85F4BA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Our Phase 2 Focus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0ADD9-4206-49C0-A028-CF7C580E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3028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Stabilize preprocessing first.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Train viable disease-risk models next.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Use those outputs as the entry point for meal calibration in the next phase.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FFF01-3D60-4BC4-AA87-174589EF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This slide keeps the same ISA heading but updates the project status to the current backend milestone.</a:t>
            </a:r>
          </a:p>
        </p:txBody>
      </p:sp>
    </p:spTree>
    <p:extLst>
      <p:ext uri="{BB962C8B-B14F-4D97-AF65-F5344CB8AC3E}">
        <p14:creationId xmlns:p14="http://schemas.microsoft.com/office/powerpoint/2010/main" val="682420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07D28-F028-4500-BEC4-413F8ADA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Abstract and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9CEA0-3265-4926-B303-21B59CC0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03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578C9-4E47-4888-9AA4-73294543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53FD3-4CF4-4D85-96DF-BAAAF444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68490-6652-46C5-85AD-BB10058F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Abstract and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BF3C8-2DCA-4348-93EC-017306DE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Phase 2 narrows the implementation to a working risk-model backbone before meal synthesis.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22A7B-5B86-4533-B1AC-6BDDB392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334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719E6-C94B-4E0A-BE63-8B1CBCB5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612C6-B623-44FD-A23A-5BAE4AC0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99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Current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F8494-E585-45D0-8271-D787BD42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49339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Build reliable disease-risk prediction for CKD, hypertension, and diabetes.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Serve predictions through the backend and terminal interfaces.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Keep the architecture modular so nutrition generation can sit on top of validated risk outputs.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240B7-21D0-441A-ADF3-8D1FB404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53530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45DEE-2AA0-4237-B843-71F9579C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8F97A-73E9-4472-B7A5-6CBCDC9C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33650"/>
            <a:ext cx="501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What Is In 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65E87-9D3D-4B30-B89F-F0B80E10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9530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Meal recommendation logic already exists as a rule-based backend layer.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Risk thresholds and top disease factors are now regenerated from full-feature models.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The next implementation step is raw patient input mapping into these disease-specific feature spaces.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65473-A2DB-4DF6-89F7-11F82ACC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Scope remains focused on T2DM, CKD, and Hypertension, with future meal calibration planned immediately after model stabilization.</a:t>
            </a:r>
          </a:p>
        </p:txBody>
      </p:sp>
    </p:spTree>
    <p:extLst>
      <p:ext uri="{BB962C8B-B14F-4D97-AF65-F5344CB8AC3E}">
        <p14:creationId xmlns:p14="http://schemas.microsoft.com/office/powerpoint/2010/main" val="1413075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DDEB6-D630-41F0-B98D-F72C2733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Suggestions from Phase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C2459-7E11-4CCA-BE94-FA8F4EDB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04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2AFB9-715A-455E-A638-AE3053B8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281E1-76BB-4C2E-AE08-83354241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9095B-3726-4756-A204-4EEDD748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Suggestions from Phase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FD68A-4ABC-49A3-9702-40C4C0A5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The review suggestions were used as direct decision criteria for the current data pipeline.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8CE98-FF84-4E56-8E63-798332F0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9D458-23EA-4B09-92D7-97E1FC74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1D0D9-1FD3-4DA2-A642-2B5C116D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Panel Suggestion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2C464-89E3-49B1-B3AE-F8049AF0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30289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Do not depend on synthetic datasets.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Avoid overloading the system with too many disconnected AI ideas.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Choose the most efficient model stack instead of the most complex 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7837F-D298-4027-8DBF-3741D9A7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D511C-6043-4ABD-ABE2-7DC88771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0AAC2-B0BD-4C98-9B77-BF2C1CFB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What We Changed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39FBF-A597-4A7B-807F-6EFEEB0A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30289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Audited the large amalgamated tables instead of assuming they were useful.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Removed the sparse BRFSS-heavy serving path after verifying key columns collapsed to constants.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Shifted to full-feature disease-specific datasets for training and serving.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52619-4CFD-44D1-8671-F9D09FA2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00BBB-41C5-418B-9D83-4CEA8BE1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460491-CCA4-414E-B72A-39AA30DD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9E8C66-F76A-4F9A-A920-6139E064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30289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Project models are now all Random Forest classifiers.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Each model aligns to a dataset with real usable features.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Terminal prediction and backend validation are now consistent with the trained artifacts.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66CBB-AA5D-42D2-BBC1-8A66E01B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Phase 2 execution follows the panel advice more closely than the earlier broad pipeline.</a:t>
            </a:r>
          </a:p>
        </p:txBody>
      </p:sp>
    </p:spTree>
    <p:extLst>
      <p:ext uri="{BB962C8B-B14F-4D97-AF65-F5344CB8AC3E}">
        <p14:creationId xmlns:p14="http://schemas.microsoft.com/office/powerpoint/2010/main" val="1712074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5924E-ABAE-4FF2-95BB-6D37925D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Requirement Specification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8F6A0-5C39-42DE-BE47-700F82AD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05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5639C-4413-4E9E-90D3-70006AA3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B08DC-9106-4B96-B978-D787F903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6532B-6145-4CE5-8E67-8D9BBFBB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Requirement Specification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802CE-1B82-4CB9-8A60-A5B985E2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The current backend milestone already covers the core disease-risk and reporting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44A88-536F-4809-82B9-8BA694EC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257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C6565-CA84-4FDF-94E1-693293DA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62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74B89-1BDA-4B06-B9A0-85956FA8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91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Functional Requirements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B2789-A87D-4494-9E6E-EBA55F4B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4857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Disease-wise risk prediction through trained models.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Threshold-aware risk reporting with top factors.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Meal-plan recommendation endpoint and meal deviation logging.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Terminal and API access for live demos and panel verification.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8B948-B157-47CA-B454-61617AF4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54102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C9BE7-EC81-4A74-9B17-F10C7EB7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762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02CFD-35C5-429F-B31C-FDEA2172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506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Non-Functional Requirements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7F244-BC5C-44B4-B594-076B0179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5010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Modular preprocessing and retraining workflow.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Explainable factor reporting for clinical interpretation.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Low-friction terminal demo path for review screenshots.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Separation between stable risk modeling and future nutrition calibration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00521-9F2C-4FDE-B795-6C7D51A3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Backend endpoints currently available: /predict-risk, /recommend-plan, /log-meal, /risk-report.</a:t>
            </a:r>
          </a:p>
        </p:txBody>
      </p:sp>
    </p:spTree>
    <p:extLst>
      <p:ext uri="{BB962C8B-B14F-4D97-AF65-F5344CB8AC3E}">
        <p14:creationId xmlns:p14="http://schemas.microsoft.com/office/powerpoint/2010/main" val="739741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AD86E-F274-4429-BE90-AA78C306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Confirmed Datasets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22FB9-DC2B-4F69-AAAD-7A5911A0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06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B4FD3-BB71-433F-9E29-72ACF91B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B6516-9C7B-4FE4-A56A-C6905BDC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5D36D-F8CC-4563-A7C7-777C1CCE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Confirmed Datasets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4A1BE-A882-411A-8789-EAB2ED16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The overall system uses an amalgamation of nutrition, survey, and disease-specific data 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1E884-9A96-4305-9564-0A133153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EC4AD-B3DD-4547-95B9-812A491F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BF7A4-4275-44B5-AF03-E909064C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Nutrition Knowledge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EF92B-C39E-4827-B990-6BFA8353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30289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IFCT 2017 from ICMR-NIN.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Indian Food Recipes Dataset from Mendeley Data.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Open Food Facts India for packaged-food coverage.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These support nutrient lookup and future meal calibration.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49546-8066-4408-85BF-B145F9F0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C3301-B566-420E-9F7F-FEBD7F12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5E4F8-5AD8-449D-8FA9-AC62D3FB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Disease and Public Health 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996BB-BDE1-4AD2-8722-05BDFAFF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30289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UCI Machine Learning Repository for CKD.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Kaggle disease datasets for Hypertension and Diabetes.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CDC BRFSS annual public files.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CDC NHANES 2017-2018 merged clinical records.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891FC-4265-418D-9FA1-BBF3603B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6A73F-1820-4380-AA14-933462FB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31992-79F4-4810-87DA-A276DC60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Source Site Names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AEDAF-0484-4AA8-800A-8BC4CB3E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30289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UCI Machine Learning Repository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Kaggle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Framingham Heart Study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Pima Indians Diabetes Dataset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CDC BRFSS Annual Data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CDC NHANES 2017-2018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ICMR-NIN IFCT 2017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Mendeley Data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Open Food Facts India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18E33-4CC5-476D-949F-513DB80E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Amalgamated sources were audited separately from the final serving datasets to avoid low-quality feature collapse.</a:t>
            </a:r>
          </a:p>
        </p:txBody>
      </p:sp>
    </p:spTree>
    <p:extLst>
      <p:ext uri="{BB962C8B-B14F-4D97-AF65-F5344CB8AC3E}">
        <p14:creationId xmlns:p14="http://schemas.microsoft.com/office/powerpoint/2010/main" val="1116125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D2498-81CB-460C-A819-9C7C3054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Temporary Datasets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A210D-4173-4293-9DBB-B2D47A27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07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6D4AD-00E0-49A2-9C57-DB22A9BF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DD486-CCA2-459B-A811-3046AAB5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64363-00C7-4225-A345-E08F34AF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Temporary Datasets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F60DA-1F41-400C-A623-F0D98C4A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Active disease-risk training now uses full-feature clinical datasets instead of sparse merged survey tables.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ECFA9-E055-4FA7-B443-B6275E91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219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3E398-06FD-4E2E-A115-5580DF02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21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25A7D-027B-44C2-8BAE-1BE78BBE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80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71A"/>
                </a:solidFill>
              </a:defRPr>
            </a:pPr>
            <a:r>
              <a:rPr sz="1500" b="1">
                <a:solidFill>
                  <a:srgbClr val="15171A"/>
                </a:solidFill>
              </a:rPr>
              <a:t>CKD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C62CD-15E4-4EF2-9AEF-5058FC85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480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5E45"/>
                </a:solidFill>
              </a:defRPr>
            </a:pPr>
            <a:r>
              <a:rPr sz="1125" b="1">
                <a:solidFill>
                  <a:srgbClr val="0A5E45"/>
                </a:solidFill>
              </a:rPr>
              <a:t>Rows: 400</a:t>
            </a:r>
          </a:p>
          <a:p xmlns:a="http://schemas.openxmlformats.org/drawingml/2006/main">
            <a:pPr algn="l">
              <a:defRPr sz="1125" b="1">
                <a:solidFill>
                  <a:srgbClr val="0A5E45"/>
                </a:solidFill>
              </a:defRPr>
            </a:pPr>
            <a:r>
              <a:rPr sz="1125" b="1">
                <a:solidFill>
                  <a:srgbClr val="0A5E45"/>
                </a:solidFill>
              </a:rPr>
              <a:t>Target: class</a:t>
            </a:r>
          </a:p>
          <a:p xmlns:a="http://schemas.openxmlformats.org/drawingml/2006/main">
            <a:pPr algn="l">
              <a:defRPr sz="1125" b="1">
                <a:solidFill>
                  <a:srgbClr val="0A5E45"/>
                </a:solidFill>
              </a:defRPr>
            </a:pPr>
            <a:r>
              <a:rPr sz="1125" b="1">
                <a:solidFill>
                  <a:srgbClr val="0A5E45"/>
                </a:solidFill>
              </a:rPr>
              <a:t>Source site(s): UCI Machine Learning Repository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8ACB1-A8E6-470F-B58C-E733DC2C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48006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171A"/>
                </a:solidFill>
              </a:defRPr>
            </a:pPr>
            <a:r>
              <a:rPr sz="975" b="0">
                <a:solidFill>
                  <a:srgbClr val="15171A"/>
                </a:solidFill>
              </a:rPr>
              <a:t>Columns:</a:t>
            </a:r>
          </a:p>
          <a:p xmlns:a="http://schemas.openxmlformats.org/drawingml/2006/main">
            <a:pPr algn="l">
              <a:defRPr sz="975" b="0">
                <a:solidFill>
                  <a:srgbClr val="15171A"/>
                </a:solidFill>
              </a:defRPr>
            </a:pPr>
            <a:r>
              <a:rPr sz="975" b="0">
                <a:solidFill>
                  <a:srgbClr val="15171A"/>
                </a:solidFill>
              </a:rPr>
              <a:t>age, bp, sg, al, su, rbc, pc, pcc, ba, bgr, bu, sc, sod, pot, hemo, pcv, wbcc, rbcc, htn, dm, cad, appet, pe, ane, class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0D1B2-2285-4391-AFCE-6E3BA035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5219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A82EC-0D2C-4C58-81B8-F98BFE8E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521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57BA6-7D58-4CFD-8656-B2AC5C65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480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71A"/>
                </a:solidFill>
              </a:defRPr>
            </a:pPr>
            <a:r>
              <a:rPr sz="1500" b="1">
                <a:solidFill>
                  <a:srgbClr val="15171A"/>
                </a:solidFill>
              </a:rPr>
              <a:t>Hypertension dataset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5D856-FAF0-4486-A0C9-1F8C7BCA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480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5E45"/>
                </a:solidFill>
              </a:defRPr>
            </a:pPr>
            <a:r>
              <a:rPr sz="1125" b="1">
                <a:solidFill>
                  <a:srgbClr val="0A5E45"/>
                </a:solidFill>
              </a:rPr>
              <a:t>Rows: 4240</a:t>
            </a:r>
          </a:p>
          <a:p xmlns:a="http://schemas.openxmlformats.org/drawingml/2006/main">
            <a:pPr algn="l">
              <a:defRPr sz="1125" b="1">
                <a:solidFill>
                  <a:srgbClr val="0A5E45"/>
                </a:solidFill>
              </a:defRPr>
            </a:pPr>
            <a:r>
              <a:rPr sz="1125" b="1">
                <a:solidFill>
                  <a:srgbClr val="0A5E45"/>
                </a:solidFill>
              </a:rPr>
              <a:t>Target: prevalentHyp</a:t>
            </a:r>
          </a:p>
          <a:p xmlns:a="http://schemas.openxmlformats.org/drawingml/2006/main">
            <a:pPr algn="l">
              <a:defRPr sz="1125" b="1">
                <a:solidFill>
                  <a:srgbClr val="0A5E45"/>
                </a:solidFill>
              </a:defRPr>
            </a:pPr>
            <a:r>
              <a:rPr sz="1125" b="1">
                <a:solidFill>
                  <a:srgbClr val="0A5E45"/>
                </a:solidFill>
              </a:rPr>
              <a:t>Source site(s): Kaggle (Framingham Heart Study dataset)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1D899-90F0-4806-817D-B146872D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8006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171A"/>
                </a:solidFill>
              </a:defRPr>
            </a:pPr>
            <a:r>
              <a:rPr sz="975" b="0">
                <a:solidFill>
                  <a:srgbClr val="15171A"/>
                </a:solidFill>
              </a:rPr>
              <a:t>Columns:</a:t>
            </a:r>
          </a:p>
          <a:p xmlns:a="http://schemas.openxmlformats.org/drawingml/2006/main">
            <a:pPr algn="l">
              <a:defRPr sz="975" b="0">
                <a:solidFill>
                  <a:srgbClr val="15171A"/>
                </a:solidFill>
              </a:defRPr>
            </a:pPr>
            <a:r>
              <a:rPr sz="975" b="0">
                <a:solidFill>
                  <a:srgbClr val="15171A"/>
                </a:solidFill>
              </a:rPr>
              <a:t>male, age, education, currentSmoker, cigsPerDay, BPMeds, prevalentStroke, diabetes, totChol, sysBP, diaBP, BMI, heartRate, glucose, TenYearCHD, prevalentHyp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612EA-61A6-4061-83B1-3237CB6B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Serving feature lists exactly match these column sets after preprocessing and retraining.</a:t>
            </a:r>
          </a:p>
        </p:txBody>
      </p:sp>
    </p:spTree>
    <p:extLst>
      <p:ext uri="{BB962C8B-B14F-4D97-AF65-F5344CB8AC3E}">
        <p14:creationId xmlns:p14="http://schemas.microsoft.com/office/powerpoint/2010/main" val="6165303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7AA96-5EB7-4F3E-B767-C978A619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Temporary Datasets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E156D-9364-4154-A201-D5BE8730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08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A7910-CB9D-4C2A-9D0E-C15CEEDC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20443-969A-4914-9BA2-FBA1E2BC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A53B6-0E9B-4B0C-BA9E-21279E52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Temporary Datasets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657A9-F037-4DD4-A4FB-45004442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Diabetes remains active for serving; BRFSS and NHANES remain useful as audit/reference 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542C3-C43F-41E0-8C70-3A020499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219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A42C5-786D-4E2F-A8A4-29D5334B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21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5DFE9-F9D6-4097-93DF-5E30A7C8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80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71A"/>
                </a:solidFill>
              </a:defRPr>
            </a:pPr>
            <a:r>
              <a:rPr sz="1500" b="1">
                <a:solidFill>
                  <a:srgbClr val="15171A"/>
                </a:solidFill>
              </a:rPr>
              <a:t>Diabetes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2C298-DC30-4B46-98CA-45E609AA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480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5E45"/>
                </a:solidFill>
              </a:defRPr>
            </a:pPr>
            <a:r>
              <a:rPr sz="1125" b="1">
                <a:solidFill>
                  <a:srgbClr val="0A5E45"/>
                </a:solidFill>
              </a:rPr>
              <a:t>Rows: 768</a:t>
            </a:r>
          </a:p>
          <a:p xmlns:a="http://schemas.openxmlformats.org/drawingml/2006/main">
            <a:pPr algn="l">
              <a:defRPr sz="1125" b="1">
                <a:solidFill>
                  <a:srgbClr val="0A5E45"/>
                </a:solidFill>
              </a:defRPr>
            </a:pPr>
            <a:r>
              <a:rPr sz="1125" b="1">
                <a:solidFill>
                  <a:srgbClr val="0A5E45"/>
                </a:solidFill>
              </a:rPr>
              <a:t>Target: Outcome</a:t>
            </a:r>
          </a:p>
          <a:p xmlns:a="http://schemas.openxmlformats.org/drawingml/2006/main">
            <a:pPr algn="l">
              <a:defRPr sz="1125" b="1">
                <a:solidFill>
                  <a:srgbClr val="0A5E45"/>
                </a:solidFill>
              </a:defRPr>
            </a:pPr>
            <a:r>
              <a:rPr sz="1125" b="1">
                <a:solidFill>
                  <a:srgbClr val="0A5E45"/>
                </a:solidFill>
              </a:rPr>
              <a:t>Source site(s): Kaggle (Pima Indians Diabetes dataset)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A8C56-631C-4ADA-88E1-BF482C1A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48006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171A"/>
                </a:solidFill>
              </a:defRPr>
            </a:pPr>
            <a:r>
              <a:rPr sz="975" b="0">
                <a:solidFill>
                  <a:srgbClr val="15171A"/>
                </a:solidFill>
              </a:rPr>
              <a:t>Columns:</a:t>
            </a:r>
          </a:p>
          <a:p xmlns:a="http://schemas.openxmlformats.org/drawingml/2006/main">
            <a:pPr algn="l">
              <a:defRPr sz="975" b="0">
                <a:solidFill>
                  <a:srgbClr val="15171A"/>
                </a:solidFill>
              </a:defRPr>
            </a:pPr>
            <a:r>
              <a:rPr sz="975" b="0">
                <a:solidFill>
                  <a:srgbClr val="15171A"/>
                </a:solidFill>
              </a:rPr>
              <a:t>Pregnancies, Glucose, BloodPressure, SkinThickness, Insulin, BMI, DiabetesPedigreeFunction, Age,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ED333-9BC2-4CCA-9FBE-6801FFF5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5219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4CA35-4BD3-4082-B440-6B215D89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6430F-ABEF-49A6-9414-1C7231AC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Amalgamated Public Sources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73E3F-70B5-45B2-B65D-DF34A311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05100"/>
            <a:ext cx="48196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CDC BRFSS 2016-2024 and CDC NHANES 2017-2018 were ingested and audited locally.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They are still useful as reference sources for feature enrichment and future scaling.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However, their current merged disease tables were not retained for serving because several lab and BP columns became all-missing or constant.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The active model pipeline therefore uses the disease-specific datasets shown on Slides 7 and 8.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0A642-8218-45C3-918C-D1B9BBC8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Audit report generated at reports/current/data_audit_summary.json.</a:t>
            </a:r>
          </a:p>
        </p:txBody>
      </p:sp>
    </p:spTree>
    <p:extLst>
      <p:ext uri="{BB962C8B-B14F-4D97-AF65-F5344CB8AC3E}">
        <p14:creationId xmlns:p14="http://schemas.microsoft.com/office/powerpoint/2010/main" val="1366606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7515B-A36A-4362-B875-EB3AF0D3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Temporary Datasets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A5569-B228-42D4-8C20-BD030C80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09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B39E7-32C7-451A-8A74-EA725062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388C4-37BF-4E62-B331-C1A496B1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46678-B628-4AC7-866E-CDADB1AC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Temporary Datasets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6E468-DE5E-4B9C-8160-03A6A8CC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Benchmarking now shows the selected project models clearly against the baseline family.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5D685-6265-486B-8A05-36515B3F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23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38200" y="2266950"/>
          <a:ext xmlns:a="http://schemas.openxmlformats.org/drawingml/2006/main" cx="67818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af9f1505ac4ef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EDC3C-4E59-47D1-99DC-D28CE53D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4671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21417"/>
          </a:solidFill>
          <a:ln xmlns:a="http://schemas.openxmlformats.org/drawingml/2006/main" w="0">
            <a:solidFill>
              <a:srgbClr val="12141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D5753-8B10-4607-87AA-924B54C2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9EAC5"/>
                </a:solidFill>
              </a:defRPr>
            </a:pPr>
            <a:r>
              <a:rPr sz="1050" b="1">
                <a:solidFill>
                  <a:srgbClr val="99EAC5"/>
                </a:solidFill>
              </a:rPr>
              <a:t>Commands for screenshot: training + benchmark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91B2C-602C-4798-8F30-253FFB69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3124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5F6"/>
                </a:solidFill>
              </a:defRPr>
            </a:pPr>
            <a:r>
              <a:rPr sz="900" b="0">
                <a:solidFill>
                  <a:srgbClr val="F4F5F6"/>
                </a:solidFill>
              </a:rPr>
              <a:t>Set-Location "d:/sem 6/capstone/Sem_6_Capstone"</a:t>
            </a:r>
          </a:p>
          <a:p xmlns:a="http://schemas.openxmlformats.org/drawingml/2006/main">
            <a:pPr algn="l">
              <a:defRPr sz="900" b="0">
                <a:solidFill>
                  <a:srgbClr val="F4F5F6"/>
                </a:solidFill>
              </a:defRPr>
            </a:pPr>
            <a:r>
              <a:rPr sz="900" b="0">
                <a:solidFill>
                  <a:srgbClr val="F4F5F6"/>
                </a:solidFill>
              </a:rPr>
              <a:t>&amp; ".\.venv\Scripts\python.exe" scripts\preprocess_all_datasets.py --source legacy</a:t>
            </a:r>
          </a:p>
          <a:p xmlns:a="http://schemas.openxmlformats.org/drawingml/2006/main">
            <a:pPr algn="l">
              <a:defRPr sz="900" b="0">
                <a:solidFill>
                  <a:srgbClr val="F4F5F6"/>
                </a:solidFill>
              </a:defRPr>
            </a:pPr>
            <a:r>
              <a:rPr sz="900" b="0">
                <a:solidFill>
                  <a:srgbClr val="F4F5F6"/>
                </a:solidFill>
              </a:rPr>
              <a:t>&amp; ".\.venv\Scripts\python.exe" scripts\train_models.py --data-source preprocessed</a:t>
            </a:r>
          </a:p>
          <a:p xmlns:a="http://schemas.openxmlformats.org/drawingml/2006/main">
            <a:pPr algn="l">
              <a:defRPr sz="900" b="0">
                <a:solidFill>
                  <a:srgbClr val="F4F5F6"/>
                </a:solidFill>
              </a:defRPr>
            </a:pPr>
            <a:r>
              <a:rPr sz="900" b="0">
                <a:solidFill>
                  <a:srgbClr val="F4F5F6"/>
                </a:solidFill>
              </a:rPr>
              <a:t>&amp; ".\.venv\Scripts\python.exe" scripts\build_risk_profiles.py</a:t>
            </a:r>
          </a:p>
          <a:p xmlns:a="http://schemas.openxmlformats.org/drawingml/2006/main">
            <a:pPr algn="l">
              <a:defRPr sz="900" b="0">
                <a:solidFill>
                  <a:srgbClr val="F4F5F6"/>
                </a:solidFill>
              </a:defRPr>
            </a:pPr>
            <a:r>
              <a:rPr sz="900" b="0">
                <a:solidFill>
                  <a:srgbClr val="F4F5F6"/>
                </a:solidFill>
              </a:rPr>
              <a:t>&amp; ".\.venv\Scripts\python.exe" scripts\benchmark_baseline_models.py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F3981-6506-40D5-AB06-A5051031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05250"/>
            <a:ext cx="3467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1417"/>
          </a:solidFill>
          <a:ln xmlns:a="http://schemas.openxmlformats.org/drawingml/2006/main" w="0">
            <a:solidFill>
              <a:srgbClr val="12141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08774-E9F2-40AB-A952-C7AD5BF8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9EAC5"/>
                </a:solidFill>
              </a:defRPr>
            </a:pPr>
            <a:r>
              <a:rPr sz="1050" b="1">
                <a:solidFill>
                  <a:srgbClr val="99EAC5"/>
                </a:solidFill>
              </a:rPr>
              <a:t>Commands for screenshot: terminal prediction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2BCD1-F0A3-44B9-9BCF-31CA412F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124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5F6"/>
                </a:solidFill>
              </a:defRPr>
            </a:pPr>
            <a:r>
              <a:rPr sz="900" b="0">
                <a:solidFill>
                  <a:srgbClr val="F4F5F6"/>
                </a:solidFill>
              </a:rPr>
              <a:t>&amp; ".\.venv\Scripts\python.exe" scripts\predict_from_terminal.py --disease ckd --show-template</a:t>
            </a:r>
          </a:p>
          <a:p xmlns:a="http://schemas.openxmlformats.org/drawingml/2006/main">
            <a:pPr algn="l">
              <a:defRPr sz="900" b="0">
                <a:solidFill>
                  <a:srgbClr val="F4F5F6"/>
                </a:solidFill>
              </a:defRPr>
            </a:pPr>
            <a:r>
              <a:rPr sz="900" b="0">
                <a:solidFill>
                  <a:srgbClr val="F4F5F6"/>
                </a:solidFill>
              </a:rPr>
              <a:t>&amp; ".\.venv\Scripts\python.exe" scripts\predict_from_terminal.py --input demo_inputs\terminal_samples\ckd_sample_1.json</a:t>
            </a:r>
          </a:p>
          <a:p xmlns:a="http://schemas.openxmlformats.org/drawingml/2006/main">
            <a:pPr algn="l">
              <a:defRPr sz="900" b="0">
                <a:solidFill>
                  <a:srgbClr val="F4F5F6"/>
                </a:solidFill>
              </a:defRPr>
            </a:pPr>
            <a:r>
              <a:rPr sz="900" b="0">
                <a:solidFill>
                  <a:srgbClr val="F4F5F6"/>
                </a:solidFill>
              </a:rPr>
              <a:t>&amp; ".\.venv\Scripts\python.exe" scripts\predict_from_terminal.py --input demo_inputs\terminal_samples\hypertension_sample_1.json</a:t>
            </a:r>
          </a:p>
          <a:p xmlns:a="http://schemas.openxmlformats.org/drawingml/2006/main">
            <a:pPr algn="l">
              <a:defRPr sz="900" b="0">
                <a:solidFill>
                  <a:srgbClr val="F4F5F6"/>
                </a:solidFill>
              </a:defRPr>
            </a:pPr>
            <a:r>
              <a:rPr sz="900" b="0">
                <a:solidFill>
                  <a:srgbClr val="F4F5F6"/>
                </a:solidFill>
              </a:rPr>
              <a:t>&amp; ".\.venv\Scripts\python.exe" scripts\predict_from_terminal.py --input demo_inputs\terminal_samples\diabetes_sample_1.json</a:t>
            </a:r>
          </a:p>
          <a:p xmlns:a="http://schemas.openxmlformats.org/drawingml/2006/main">
            <a:pPr algn="l">
              <a:defRPr sz="900" b="0">
                <a:solidFill>
                  <a:srgbClr val="F4F5F6"/>
                </a:solidFill>
              </a:defRPr>
            </a:pPr>
            <a:r>
              <a:rPr sz="900" b="0">
                <a:solidFill>
                  <a:srgbClr val="F4F5F6"/>
                </a:solidFill>
              </a:rPr>
              <a:t>&amp; ".\.venv\Scripts\python.exe" scripts\backend_smoke_test.py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B00B4-B926-4DB6-AB8C-20CDFAB6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Project model used in all three diseases: RandomForestClassifier.</a:t>
            </a:r>
          </a:p>
        </p:txBody>
      </p:sp>
    </p:spTree>
    <p:extLst>
      <p:ext uri="{BB962C8B-B14F-4D97-AF65-F5344CB8AC3E}">
        <p14:creationId xmlns:p14="http://schemas.microsoft.com/office/powerpoint/2010/main" val="2317081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3420A-38A7-482C-8525-E6F6CD28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Design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BE758-EB15-45B6-8A92-5E93B298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10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39D2A-DDF2-48F8-9008-E54EB739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33DCD-7541-4BC5-84FA-3CBC412E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2F705-420E-4F79-AE3F-300EFF28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Design Approach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F34B6-45BA-4DF1-BF74-B5622A96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The implementation keeps the original hybrid design, but Phase 2 is centered on a stronger risk-model core.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96B7E-F59F-4CB4-BE22-7BFF3D68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290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ECC8C-B1CB-4A9F-A79F-AA8E81AB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62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EEECE-B487-44A5-9904-F6B6C3EE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Approach Followed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583C9-971B-48FD-9988-036A733F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30289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Layered modular architecture from client to backend to safety and reporting.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Disease-wise preprocessing and model training instead of a single blended risk table.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Rule-based meal logic remains downstream of validated risk inference.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F83F4-94D4-4938-A473-E8DD3140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4290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BC1AA-8971-4D68-9075-79B2EBF8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762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00245-79B0-43BF-8F13-E820F76A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Why This Approach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9EF7C-93B9-473A-A945-A0165768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30289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Pure generative output without reliable risk estimation is unsafe.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Pure rules without predictive risk cannot personalize intensity or alerting.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A stable model layer gives us the right handoff point into meal calibration.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8BDE2-86C5-43EA-A8DC-C29A95BB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4290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9E70D-AB60-4797-B19D-47A4BEC8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762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FF72B-F8C4-470F-907C-919BA05E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Phase 2 Benefit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4EAEC-7541-4291-829E-3DE6C95B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30289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Cleaner artifacts.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Repeatable retraining.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Terminal and backend demos now match the same model definitions.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25A66-FD12-4331-82B9-A2E37D80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Current deployment path: preprocess -&gt; train -&gt; build thresholds -&gt; backend/terminal inference.</a:t>
            </a:r>
          </a:p>
        </p:txBody>
      </p:sp>
    </p:spTree>
    <p:extLst>
      <p:ext uri="{BB962C8B-B14F-4D97-AF65-F5344CB8AC3E}">
        <p14:creationId xmlns:p14="http://schemas.microsoft.com/office/powerpoint/2010/main" val="17899677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9D608-179F-40C2-8A11-08233BFD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Design Constraints, Assumptions &amp; Dependencies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8AEFF-034F-4433-B5CE-9CB64A9B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11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11B98-67BA-454E-9193-3F0ECDA6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C280C-168A-4A77-9A79-B1C6017D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01FB8-2ED8-44D7-9AA7-4FFB4834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Design Constraints, Assumptions &amp; Dependencies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472AD-CFFA-47B0-8D6C-F4AE84DC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The current backend is bounded by data realism, explainability, and safe handoff into nutrition 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16B24-E2B9-4F8B-80C9-BF74CF1E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290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0E140-2446-4C1F-A3F8-FBDCAEF0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62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1F35B-A929-4507-8A7F-0B22FF8A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BF7E5-4266-40B3-B11C-77338BB8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30289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Only clinically usable features should reach serving artifacts.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Terminal demos must use the same artifact features as the backend.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We avoid claiming meal calibration quality before risk prediction is stable.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91E46-7F41-4C4A-956F-0C1A5D49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4290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F3683-BF09-482D-A01C-22FA3102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762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AD072-6551-4FB7-ACD1-5D805AD3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Assumptions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C23EE-14F7-4ACC-B2A6-486209C2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30289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Disease datasets are small but feature-rich enough for Phase 2 benchmarking.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Random Forest is currently the most reliable serving choice on these processed splits.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Raw patient-friendly input mapping will be added in the next implementation step.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419A6-ADD2-4CB4-AC89-1063CD07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4290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1A9FD-0E1C-4201-8800-EB3E2296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762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2386D-7377-40E4-AF3D-F9FD4AEF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E45"/>
                </a:solidFill>
              </a:defRPr>
            </a:pPr>
            <a:r>
              <a:rPr sz="1200" b="1">
                <a:solidFill>
                  <a:srgbClr val="0A5E45"/>
                </a:solidFill>
              </a:rPr>
              <a:t>Dependencies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93D87-BC6F-4B2F-915D-DD5AF308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30289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Python + scikit-learn preprocessing/training stack.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FastAPI backend and persisted model artifacts.</a:t>
            </a:r>
          </a:p>
          <a:p xmlns:a="http://schemas.openxmlformats.org/drawingml/2006/main">
            <a:pPr algn="l">
              <a:defRPr sz="1275" b="0">
                <a:solidFill>
                  <a:srgbClr val="15171A"/>
                </a:solidFill>
              </a:defRPr>
            </a:pPr>
            <a:r>
              <a:rPr sz="1275" b="0">
                <a:solidFill>
                  <a:srgbClr val="15171A"/>
                </a:solidFill>
              </a:rPr>
              <a:t>• Unified food knowledge base for the next meal-calibration milestone.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88ED9-298E-4CB1-B34C-EB68672C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Backend smoke test passed after retraining and threshold regeneration.</a:t>
            </a:r>
          </a:p>
        </p:txBody>
      </p:sp>
    </p:spTree>
    <p:extLst>
      <p:ext uri="{BB962C8B-B14F-4D97-AF65-F5344CB8AC3E}">
        <p14:creationId xmlns:p14="http://schemas.microsoft.com/office/powerpoint/2010/main" val="5609826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2FB80-30A9-4BB9-B7F6-A1F0AFD4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Architecture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257BB-4D50-408A-BA91-13E2E1B9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12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AD9CB-BB5E-43B8-918A-A477B660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E8FD4-FA23-4F5B-8414-E6147501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6F389-8E1B-4658-87FB-3516FDEF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Architecture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5319C-FC77-48F1-8AFB-9D5C1690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The architecture remains the same; the completed portion is now the risk-model and backend-serving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20D84-54EE-4CB1-AC8D-1D4F6441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1585e98504c9d"/>
          <a:stretch xmlns:a="http://schemas.openxmlformats.org/drawingml/2006/main"/>
        </p:blipFill>
        <p:spPr>
          <a:xfrm xmlns:a="http://schemas.openxmlformats.org/drawingml/2006/main">
            <a:off x="2611864" y="2190750"/>
            <a:ext cx="6968273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BC081-978D-4EF8-AC79-5F4B7545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Implemented now: preprocessing, training, thresholds, backend inference, risk report, and terminal prediction.</a:t>
            </a:r>
          </a:p>
        </p:txBody>
      </p:sp>
    </p:spTree>
    <p:extLst>
      <p:ext uri="{BB962C8B-B14F-4D97-AF65-F5344CB8AC3E}">
        <p14:creationId xmlns:p14="http://schemas.microsoft.com/office/powerpoint/2010/main" val="3826792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67350-EB52-483B-9650-8A284C57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Master Class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5AB64-40C6-4F51-96F5-C5E376C3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13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417AA-26C9-4C41-B766-2E79E7F1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F33D0-9334-488D-A80F-98515992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D527E-DA3C-4054-ACB6-57A3A22A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Master Class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F6349-FF05-408B-8A77-687F3DB3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The review deck keeps the original system-structure slides so the panel can compare design intent to implementation progress.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7DF85-F3F4-4AAC-A6E2-833A9E48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d5085be9c4ec4"/>
          <a:stretch xmlns:a="http://schemas.openxmlformats.org/drawingml/2006/main"/>
        </p:blipFill>
        <p:spPr>
          <a:xfrm xmlns:a="http://schemas.openxmlformats.org/drawingml/2006/main">
            <a:off x="2983867" y="2228850"/>
            <a:ext cx="6224266" cy="3638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393B9-362E-469F-B2DC-6F626A1D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Class diagram asset reused from the original review materials.</a:t>
            </a:r>
          </a:p>
        </p:txBody>
      </p:sp>
    </p:spTree>
    <p:extLst>
      <p:ext uri="{BB962C8B-B14F-4D97-AF65-F5344CB8AC3E}">
        <p14:creationId xmlns:p14="http://schemas.microsoft.com/office/powerpoint/2010/main" val="8612610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78570-3914-41A1-A7F8-5D02FF86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ER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F6050-A256-4BAE-9610-C0073FA6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14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1D953-BA67-46D8-AFF9-5195DCCD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AB808-8738-4AEA-B43A-5428F090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0A8F3-F76C-4A46-BA2D-05A326AA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ER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1A9C9-E86B-4982-8A58-23D15C4F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This still reflects the data-oriented view of the application and supervision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EC153-D5E4-4145-94B8-2E429F66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1b203965a4bde"/>
          <a:stretch xmlns:a="http://schemas.openxmlformats.org/drawingml/2006/main"/>
        </p:blipFill>
        <p:spPr>
          <a:xfrm xmlns:a="http://schemas.openxmlformats.org/drawingml/2006/main">
            <a:off x="4509766" y="2228850"/>
            <a:ext cx="3172468" cy="3638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D088E-7165-4C75-BE83-C843F67A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ER diagram asset reused from the original review materials.</a:t>
            </a:r>
          </a:p>
        </p:txBody>
      </p:sp>
    </p:spTree>
    <p:extLst>
      <p:ext uri="{BB962C8B-B14F-4D97-AF65-F5344CB8AC3E}">
        <p14:creationId xmlns:p14="http://schemas.microsoft.com/office/powerpoint/2010/main" val="7107082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1CD35-34A7-4188-B753-D260BD75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Use-Case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88BB5-67FB-409F-A2FC-B918F338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15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67E0F-F5DC-4896-A7AC-7D9949C6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F15E5-1D5F-4D01-9E09-320F34E6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6BEA1-BC75-4E89-A39D-5A68B840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Use-Case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3C839-6B72-4C0C-B4AE-5D928443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This remains relevant for the eventual app flow once risk prediction feeds meal calibration.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5D6BA-C4A8-4901-B4EF-A993CB07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0394b8f764c87"/>
          <a:stretch xmlns:a="http://schemas.openxmlformats.org/drawingml/2006/main"/>
        </p:blipFill>
        <p:spPr>
          <a:xfrm xmlns:a="http://schemas.openxmlformats.org/drawingml/2006/main">
            <a:off x="4495735" y="2228850"/>
            <a:ext cx="3200530" cy="3638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0F430-B66F-493B-8B64-57AA012B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Use-case diagram asset reused from the original review materials.</a:t>
            </a:r>
          </a:p>
        </p:txBody>
      </p:sp>
    </p:spTree>
    <p:extLst>
      <p:ext uri="{BB962C8B-B14F-4D97-AF65-F5344CB8AC3E}">
        <p14:creationId xmlns:p14="http://schemas.microsoft.com/office/powerpoint/2010/main" val="15740737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A6C83-08DF-45B9-9A03-9F36D1B2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External Interface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00F89-6A52-4DEE-A1AF-FF3397B0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5E45"/>
                </a:solidFill>
              </a:defRPr>
            </a:pPr>
            <a:r>
              <a:rPr sz="1050" b="1">
                <a:solidFill>
                  <a:srgbClr val="0A5E45"/>
                </a:solidFill>
              </a:rPr>
              <a:t>16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25517-FC08-401E-AA3E-6748E947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E03BC-9B29-4C1B-80EE-81D47AE3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14288">
            <a:solidFill>
              <a:srgbClr val="1517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AFD47-D5C7-42E2-82E5-A9134A30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71A"/>
                </a:solidFill>
              </a:defRPr>
            </a:pPr>
            <a:r>
              <a:rPr sz="2550" b="1">
                <a:solidFill>
                  <a:srgbClr val="15171A"/>
                </a:solidFill>
              </a:rPr>
              <a:t>External Interface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E60ED-7BA8-497B-A576-84BC068A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666D"/>
                </a:solidFill>
              </a:defRPr>
            </a:pPr>
            <a:r>
              <a:rPr sz="1350" b="0">
                <a:solidFill>
                  <a:srgbClr val="61666D"/>
                </a:solidFill>
              </a:rPr>
              <a:t>Terminal prediction and backend endpoints are the current externally demonstrable interfaces.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08462-4448-4743-8565-E87FC55B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3894922fe477a"/>
          <a:stretch xmlns:a="http://schemas.openxmlformats.org/drawingml/2006/main"/>
        </p:blipFill>
        <p:spPr>
          <a:xfrm xmlns:a="http://schemas.openxmlformats.org/drawingml/2006/main">
            <a:off x="3619456" y="2228850"/>
            <a:ext cx="4953087" cy="3638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CD992-72B4-45C9-A750-0AF102DE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For the live demo, terminal and backend prediction paths are now aligned with the same artifacts.</a:t>
            </a:r>
          </a:p>
        </p:txBody>
      </p:sp>
    </p:spTree>
    <p:extLst>
      <p:ext uri="{BB962C8B-B14F-4D97-AF65-F5344CB8AC3E}">
        <p14:creationId xmlns:p14="http://schemas.microsoft.com/office/powerpoint/2010/main" val="2784427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70998C-8A84-4CF7-9C59-CFE5B4804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4DA27-2677-4F98-BAC6-13C826A1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C0D5D-AD58-4F0C-8B08-A007B270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476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171A"/>
                </a:solidFill>
              </a:defRPr>
            </a:pPr>
            <a:r>
              <a:rPr sz="3900" b="1">
                <a:solidFill>
                  <a:srgbClr val="15171A"/>
                </a:solidFill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173E2-8EAA-4E8E-8D9C-D0E943D6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590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666D"/>
                </a:solidFill>
              </a:defRPr>
            </a:pPr>
            <a:r>
              <a:rPr sz="1800" b="0">
                <a:solidFill>
                  <a:srgbClr val="61666D"/>
                </a:solidFill>
              </a:rPr>
              <a:t>Current status:</a:t>
            </a:r>
          </a:p>
          <a:p xmlns:a="http://schemas.openxmlformats.org/drawingml/2006/main">
            <a:pPr algn="l">
              <a:defRPr sz="1800" b="0">
                <a:solidFill>
                  <a:srgbClr val="61666D"/>
                </a:solidFill>
              </a:defRPr>
            </a:pPr>
            <a:r>
              <a:rPr sz="1800" b="0">
                <a:solidFill>
                  <a:srgbClr val="61666D"/>
                </a:solidFill>
              </a:rPr>
              <a:t>• preprocessing fixed</a:t>
            </a:r>
          </a:p>
          <a:p xmlns:a="http://schemas.openxmlformats.org/drawingml/2006/main">
            <a:pPr algn="l">
              <a:defRPr sz="1800" b="0">
                <a:solidFill>
                  <a:srgbClr val="61666D"/>
                </a:solidFill>
              </a:defRPr>
            </a:pPr>
            <a:r>
              <a:rPr sz="1800" b="0">
                <a:solidFill>
                  <a:srgbClr val="61666D"/>
                </a:solidFill>
              </a:rPr>
              <a:t>• project models retrained</a:t>
            </a:r>
          </a:p>
          <a:p xmlns:a="http://schemas.openxmlformats.org/drawingml/2006/main">
            <a:pPr algn="l">
              <a:defRPr sz="1800" b="0">
                <a:solidFill>
                  <a:srgbClr val="61666D"/>
                </a:solidFill>
              </a:defRPr>
            </a:pPr>
            <a:r>
              <a:rPr sz="1800" b="0">
                <a:solidFill>
                  <a:srgbClr val="61666D"/>
                </a:solidFill>
              </a:rPr>
              <a:t>• baseline comparison complete</a:t>
            </a:r>
          </a:p>
          <a:p xmlns:a="http://schemas.openxmlformats.org/drawingml/2006/main">
            <a:pPr algn="l">
              <a:defRPr sz="1800" b="0">
                <a:solidFill>
                  <a:srgbClr val="61666D"/>
                </a:solidFill>
              </a:defRPr>
            </a:pPr>
            <a:r>
              <a:rPr sz="1800" b="0">
                <a:solidFill>
                  <a:srgbClr val="61666D"/>
                </a:solidFill>
              </a:rPr>
              <a:t>• terminal prediction working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61666D"/>
                </a:solidFill>
              </a:defRPr>
            </a:pPr>
            <a:r>
              <a:rPr sz="1800" b="0">
                <a:solidFill>
                  <a:srgbClr val="61666D"/>
                </a:solidFill>
              </a:rPr>
              <a:t>Next step after this review: raw input mapping and nutrition/diet calibration.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44DAC-3C62-4DC3-A2AB-EC22D3C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D7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0488E-7F38-41C3-B3C5-F25CA92F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171A"/>
                </a:solidFill>
              </a:defRPr>
            </a:pPr>
            <a:r>
              <a:rPr sz="1950" b="1">
                <a:solidFill>
                  <a:srgbClr val="15171A"/>
                </a:solidFill>
              </a:rPr>
              <a:t>Serving models</a:t>
            </a:r>
          </a:p>
          <a:p xmlns:a="http://schemas.openxmlformats.org/drawingml/2006/main">
            <a:pPr algn="ctr">
              <a:defRPr sz="1950" b="1">
                <a:solidFill>
                  <a:srgbClr val="15171A"/>
                </a:solidFill>
              </a:defRPr>
            </a:pPr>
            <a:r>
              <a:rPr sz="1950" b="1">
                <a:solidFill>
                  <a:srgbClr val="15171A"/>
                </a:solidFill>
              </a:rPr>
              <a:t>CKD RF 150</a:t>
            </a:r>
          </a:p>
          <a:p xmlns:a="http://schemas.openxmlformats.org/drawingml/2006/main">
            <a:pPr algn="ctr">
              <a:defRPr sz="1950" b="1">
                <a:solidFill>
                  <a:srgbClr val="15171A"/>
                </a:solidFill>
              </a:defRPr>
            </a:pPr>
            <a:r>
              <a:rPr sz="1950" b="1">
                <a:solidFill>
                  <a:srgbClr val="15171A"/>
                </a:solidFill>
              </a:rPr>
              <a:t>HTN RF 150</a:t>
            </a:r>
          </a:p>
          <a:p xmlns:a="http://schemas.openxmlformats.org/drawingml/2006/main">
            <a:pPr algn="ctr">
              <a:defRPr sz="1950" b="1">
                <a:solidFill>
                  <a:srgbClr val="15171A"/>
                </a:solidFill>
              </a:defRPr>
            </a:pPr>
            <a:r>
              <a:rPr sz="1950" b="1">
                <a:solidFill>
                  <a:srgbClr val="15171A"/>
                </a:solidFill>
              </a:rPr>
              <a:t>DIAB RF 150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15171A"/>
                </a:solidFill>
              </a:defRPr>
            </a:pPr>
            <a:r>
              <a:rPr sz="1950" b="1">
                <a:solidFill>
                  <a:srgbClr val="15171A"/>
                </a:solidFill>
              </a:rPr>
              <a:t>Smoke test: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02692-B5E4-46D1-974C-3C8D115E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666D"/>
                </a:solidFill>
              </a:defRPr>
            </a:pPr>
            <a:r>
              <a:rPr sz="750" b="0">
                <a:solidFill>
                  <a:srgbClr val="61666D"/>
                </a:solidFill>
              </a:rPr>
              <a:t>Deck prepared from ISA_Review1 structure and the current repository outputs.</a:t>
            </a:r>
          </a:p>
        </p:txBody>
      </p:sp>
    </p:spTree>
    <p:extLst>
      <p:ext uri="{BB962C8B-B14F-4D97-AF65-F5344CB8AC3E}">
        <p14:creationId xmlns:p14="http://schemas.microsoft.com/office/powerpoint/2010/main" val="189514983"/>
      </p:ext>
    </p:extLst>
  </p:cSld>
</p:sld>
</file>

<file path=ppt/theme/theme1.xml><?xml version="1.0" encoding="utf-8"?>
<a:theme xmlns:a="http://schemas.openxmlformats.org/drawingml/2006/main" name="Capstone Review">
  <a:themeElements>
    <a:clrScheme name="Capstone Review">
      <a:accent1>
        <a:srgbClr val="0D8F68"/>
      </a:accent1>
      <a:accent2>
        <a:srgbClr val="D89A2B"/>
      </a:accent2>
      <a:accent3>
        <a:srgbClr val="E86E54"/>
      </a:accent3>
      <a:accent4>
        <a:srgbClr val="6B86E8"/>
      </a:accent4>
      <a:accent5>
        <a:srgbClr val="9A6DD7"/>
      </a:accent5>
      <a:accent6>
        <a:srgbClr val="6FB0AA"/>
      </a:accent6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pstone Review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2026-04-19T10:41:57.5110000Z</dcterms:created>
  <dcterms:modified xsi:type="dcterms:W3CDTF">2026-04-19T10:41:57.5110000Z</dcterms:modified>
</coreProperties>
</file>