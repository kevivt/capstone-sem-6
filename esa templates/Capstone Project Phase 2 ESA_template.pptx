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17"/>
  </p:notesMasterIdLst>
  <p:handoutMasterIdLst>
    <p:handoutMasterId r:id="rId18"/>
  </p:handoutMasterIdLst>
  <p:sldIdLst>
    <p:sldId id="538" r:id="rId2"/>
    <p:sldId id="535" r:id="rId3"/>
    <p:sldId id="569" r:id="rId4"/>
    <p:sldId id="585" r:id="rId5"/>
    <p:sldId id="568" r:id="rId6"/>
    <p:sldId id="571" r:id="rId7"/>
    <p:sldId id="567" r:id="rId8"/>
    <p:sldId id="564" r:id="rId9"/>
    <p:sldId id="580" r:id="rId10"/>
    <p:sldId id="586" r:id="rId11"/>
    <p:sldId id="545" r:id="rId12"/>
    <p:sldId id="583" r:id="rId13"/>
    <p:sldId id="584" r:id="rId14"/>
    <p:sldId id="581" r:id="rId15"/>
    <p:sldId id="582" r:id="rId16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0066"/>
    <a:srgbClr val="0000FF"/>
    <a:srgbClr val="33CC33"/>
    <a:srgbClr val="00FFFF"/>
    <a:srgbClr val="6600FF"/>
    <a:srgbClr val="CC66FF"/>
    <a:srgbClr val="62832D"/>
    <a:srgbClr val="0066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37" autoAdjust="0"/>
    <p:restoredTop sz="86811" autoAdjust="0"/>
  </p:normalViewPr>
  <p:slideViewPr>
    <p:cSldViewPr>
      <p:cViewPr varScale="1">
        <p:scale>
          <a:sx n="63" d="100"/>
          <a:sy n="63" d="100"/>
        </p:scale>
        <p:origin x="796" y="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13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jwala talanki" userId="f96f43d5c5067f3b" providerId="LiveId" clId="{4B6E1711-CB52-4CF4-B5ED-8DDF63F8A93D}"/>
    <pc:docChg chg="modSld">
      <pc:chgData name="prajwala talanki" userId="f96f43d5c5067f3b" providerId="LiveId" clId="{4B6E1711-CB52-4CF4-B5ED-8DDF63F8A93D}" dt="2026-04-07T08:54:41.581" v="2" actId="20577"/>
      <pc:docMkLst>
        <pc:docMk/>
      </pc:docMkLst>
      <pc:sldChg chg="modSp mod">
        <pc:chgData name="prajwala talanki" userId="f96f43d5c5067f3b" providerId="LiveId" clId="{4B6E1711-CB52-4CF4-B5ED-8DDF63F8A93D}" dt="2026-04-07T08:54:15.581" v="1" actId="20577"/>
        <pc:sldMkLst>
          <pc:docMk/>
          <pc:sldMk cId="0" sldId="538"/>
        </pc:sldMkLst>
        <pc:spChg chg="mod">
          <ac:chgData name="prajwala talanki" userId="f96f43d5c5067f3b" providerId="LiveId" clId="{4B6E1711-CB52-4CF4-B5ED-8DDF63F8A93D}" dt="2026-04-07T08:54:15.581" v="1" actId="20577"/>
          <ac:spMkLst>
            <pc:docMk/>
            <pc:sldMk cId="0" sldId="538"/>
            <ac:spMk id="2" creationId="{00000000-0000-0000-0000-000000000000}"/>
          </ac:spMkLst>
        </pc:spChg>
      </pc:sldChg>
      <pc:sldChg chg="modSp mod">
        <pc:chgData name="prajwala talanki" userId="f96f43d5c5067f3b" providerId="LiveId" clId="{4B6E1711-CB52-4CF4-B5ED-8DDF63F8A93D}" dt="2026-04-07T08:54:41.581" v="2" actId="20577"/>
        <pc:sldMkLst>
          <pc:docMk/>
          <pc:sldMk cId="0" sldId="580"/>
        </pc:sldMkLst>
        <pc:spChg chg="mod">
          <ac:chgData name="prajwala talanki" userId="f96f43d5c5067f3b" providerId="LiveId" clId="{4B6E1711-CB52-4CF4-B5ED-8DDF63F8A93D}" dt="2026-04-07T08:54:41.581" v="2" actId="20577"/>
          <ac:spMkLst>
            <pc:docMk/>
            <pc:sldMk cId="0" sldId="580"/>
            <ac:spMk id="1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6A7C97D-3554-44E0-8E72-665D45387ACC}" type="datetimeFigureOut">
              <a:rPr lang="en-US"/>
              <a:pPr>
                <a:defRPr/>
              </a:pPr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486DC43-659C-4A17-BDC0-5684401D4F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973BE83-6A1D-4DA3-83D0-ED76C71EFE38}" type="datetimeFigureOut">
              <a:rPr lang="en-US"/>
              <a:pPr>
                <a:defRPr/>
              </a:pPr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1C81575-24DE-4F6C-A73E-0331B3B2E4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66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689D6-F988-36D0-D3E5-43EBA9B82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18EE16-37A0-9A29-E8EF-CEFA18239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0FBE7-0769-2870-65B4-602407DA4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AA4D4-D3FB-7917-EF09-378D6AA874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976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30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" name="Google Shape;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945649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" name="Google Shape;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6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" name="Google Shape;58;p6:notes"/>
          <p:cNvSpPr txBox="1">
            <a:spLocks noGrp="1"/>
          </p:cNvSpPr>
          <p:nvPr>
            <p:ph type="sldNum" idx="12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B0268-2C3E-9C16-BB7A-E2CD23C26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F44405-FBF6-C840-0C43-62C9FB8737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28231-B35D-604A-EA68-7532EBBD1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8AE70-430C-B6FE-75A2-3EE8B8EA7D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1181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625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713C8-F183-1D43-AE77-BF9BD4D2A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AF752-0EC0-CF4D-965A-5129A9135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32540-0688-DC4A-809A-52FB3313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CA43E-0611-D047-BC7B-31F920B6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E4123-5713-BC41-BBD0-42ADF35D9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70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DED43-C903-1F44-A779-40DF9AEF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975D8-34AD-544B-B0E2-83FA77D2F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24DD5-B8E0-534E-B68A-EF415575E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96688-5BB1-5E48-BD14-BBC9FA67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C407C-3003-DB44-98B5-0DEC6272B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1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5630D-09E2-0742-AED8-D3F732546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B2CD3-A564-8044-A4EC-7EBA26298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A64EE-79C1-8B46-BA9C-199117C7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1AAB2-DA47-AE48-A088-6FC7C169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8FF9C-19C9-FA46-8C21-74202499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9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BAF5-C913-024F-8BE6-64C58F970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E6DB7-D3D7-1443-A583-8730715E2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EB82F-3E99-7441-9B06-6D7C2156A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6D282-1572-D344-87D1-785DA857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3D760-065F-6442-AF7E-1A7AAFFCA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F4C15-EC3A-7E41-A2B3-D2AB7D70E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04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2CC90-B8AE-8A46-A8A5-F7E8DA61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152C5-AA77-4B47-965C-21A00C1EE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66F8D-3502-5242-9160-E1CDE38E0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754302-8F9A-5648-9C5E-6D037F1C7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FC9CD-8823-F145-9952-EFBA9ACD2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5EF4D9-655F-4842-A6B8-D44A05012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E68A74-725F-8F40-8F80-E96287703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D868FA-8565-A740-9B9C-B3CD6AB3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54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FCE3-1C1E-7448-AF7E-5E46BB14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9D5C9-50F6-8546-8D8C-AFACC1BC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EA0D0C-FCAF-4F4C-AAF5-C9B78C03C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8836A-EEA3-7347-A63C-8E66DF7B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87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7A43C1-2303-5A41-B234-90D15E2A4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A77971-B281-6149-9884-0E9C45F8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0F6F3-1061-E842-B540-6BD0D6CB8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3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B970D-13D5-B346-968D-400B0BCC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9FFE0-37CD-7644-A007-76E5304F1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10BE7-EA92-B44F-9EEC-94E6F6955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6D810-D2A1-B549-A5BC-25CCA5CD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872D2-2005-3043-A02D-3E2DB9334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9F01D-1164-4249-AD67-1D51D33C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86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3B30-2A71-A043-9BD7-3B8C66BF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2B08A9-6B45-4340-8859-996D9B949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B1F4B2-96C1-614B-9110-8D1AEE080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DF3EB-6252-5845-AE7D-FB94ECF9F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65DB7-EFE7-7446-8DEC-69F1FB47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0E09F-0F32-5644-881A-A61CD824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594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6E61B7-8DCD-1544-BC5D-B4592F60C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B61D9-7FB3-1343-9555-936FC6036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2A79E-2DF5-4E41-BDCF-90E9D26B7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A7037-0853-0447-B5BA-F1548123F733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D5DC5-E1CB-B84F-BCAB-EB319B371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12A2C-5C91-4B43-A114-209348A10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 descr="PESSAT - All India Online Entrance Exam for Admission to PES University">
            <a:extLst>
              <a:ext uri="{FF2B5EF4-FFF2-40B4-BE49-F238E27FC236}">
                <a16:creationId xmlns:a16="http://schemas.microsoft.com/office/drawing/2014/main" id="{A1C117DA-E63C-A88A-CE36-802FDA28C0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7336" y="264409"/>
            <a:ext cx="116205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38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66800" y="2011308"/>
            <a:ext cx="9525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IN" sz="2800" b="1" dirty="0">
                <a:solidFill>
                  <a:srgbClr val="FF0000"/>
                </a:solidFill>
                <a:latin typeface="Trebuchet MS" pitchFamily="34" charset="0"/>
              </a:rPr>
              <a:t>UE23CS320B – Capstone </a:t>
            </a:r>
            <a:r>
              <a:rPr lang="en-US" sz="2800" b="1" dirty="0">
                <a:solidFill>
                  <a:srgbClr val="FF0000"/>
                </a:solidFill>
                <a:latin typeface="Trebuchet MS" pitchFamily="34" charset="0"/>
              </a:rPr>
              <a:t>Project Phase-2 ESA</a:t>
            </a:r>
          </a:p>
          <a:p>
            <a:pPr marL="342891" indent="-342891" algn="ctr" eaLnBrk="0" hangingPunct="0">
              <a:defRPr/>
            </a:pPr>
            <a:r>
              <a:rPr lang="en-US" sz="2800" dirty="0">
                <a:solidFill>
                  <a:srgbClr val="FF0000"/>
                </a:solidFill>
                <a:latin typeface="Trebuchet MS" pitchFamily="34" charset="0"/>
              </a:rPr>
              <a:t>        </a:t>
            </a:r>
            <a:endParaRPr lang="en-US" sz="2800" b="1" dirty="0">
              <a:solidFill>
                <a:srgbClr val="FF0000"/>
              </a:solidFill>
              <a:latin typeface="Trebuchet MS" pitchFamily="34" charset="0"/>
            </a:endParaRPr>
          </a:p>
        </p:txBody>
      </p:sp>
      <p:sp>
        <p:nvSpPr>
          <p:cNvPr id="4" name="Google Shape;26;p3"/>
          <p:cNvSpPr txBox="1"/>
          <p:nvPr/>
        </p:nvSpPr>
        <p:spPr>
          <a:xfrm>
            <a:off x="1828800" y="4343401"/>
            <a:ext cx="8458200" cy="137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  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ID       :</a:t>
            </a: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Guide :                  </a:t>
            </a: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Team  : </a:t>
            </a:r>
            <a:endParaRPr sz="2000" dirty="0">
              <a:solidFill>
                <a:srgbClr val="0033CC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066800" y="1752600"/>
            <a:ext cx="8534400" cy="4724400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 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kern="0" dirty="0">
                <a:solidFill>
                  <a:srgbClr val="0000FF"/>
                </a:solidFill>
                <a:latin typeface="Trebuchet MS" pitchFamily="34" charset="0"/>
              </a:rPr>
              <a:t>Suggestions from Review – 1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kern="0" dirty="0">
                <a:solidFill>
                  <a:srgbClr val="0000FF"/>
                </a:solidFill>
                <a:latin typeface="Trebuchet MS" pitchFamily="34" charset="0"/>
              </a:rPr>
              <a:t>Suggestions from Review – 2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kern="0" dirty="0">
                <a:solidFill>
                  <a:srgbClr val="0000FF"/>
                </a:solidFill>
                <a:latin typeface="Trebuchet MS" pitchFamily="34" charset="0"/>
              </a:rPr>
              <a:t>Analysis and Critique of Research/Relevance -Application in Real world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High Level Design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Design Methodology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Project Progress (Minimum 20% implementation)</a:t>
            </a:r>
          </a:p>
          <a:p>
            <a:pPr marL="1142991" lvl="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Data Preprocessing and Base Model Implementation 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Individual Contribution 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References</a:t>
            </a: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2400" dirty="0">
              <a:solidFill>
                <a:srgbClr val="0033CC"/>
              </a:solidFill>
              <a:latin typeface="Trebuchet MS"/>
              <a:sym typeface="Trebuchet MS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85800" y="1828800"/>
            <a:ext cx="8077200" cy="4191000"/>
          </a:xfrm>
          <a:prstGeom prst="rect">
            <a:avLst/>
          </a:prstGeom>
        </p:spPr>
        <p:txBody>
          <a:bodyPr/>
          <a:lstStyle/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Well defined problem statement.</a:t>
            </a:r>
          </a:p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Provide a basic introduction of the project</a:t>
            </a: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419600" y="1119490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  <a:sym typeface="Trebuchet MS"/>
              </a:rPr>
              <a:t>Abstract</a:t>
            </a:r>
            <a:endParaRPr lang="en-US" sz="2400" dirty="0">
              <a:solidFill>
                <a:srgbClr val="FF0000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030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B9FC5-E1BC-DE82-DB96-80EE189C5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FFEA6F4-E844-37E4-E74C-0D7B8F914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7ECCC90-D7BA-7AB7-1609-4B507E9631E5}"/>
              </a:ext>
            </a:extLst>
          </p:cNvPr>
          <p:cNvSpPr txBox="1">
            <a:spLocks/>
          </p:cNvSpPr>
          <p:nvPr/>
        </p:nvSpPr>
        <p:spPr>
          <a:xfrm>
            <a:off x="1295400" y="1747730"/>
            <a:ext cx="8077200" cy="4211931"/>
          </a:xfrm>
          <a:prstGeom prst="rect">
            <a:avLst/>
          </a:prstGeom>
        </p:spPr>
        <p:txBody>
          <a:bodyPr/>
          <a:lstStyle/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Provide the suggestions and remarks given by the Panel members. </a:t>
            </a:r>
          </a:p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IN" sz="2400" kern="0" dirty="0">
              <a:solidFill>
                <a:srgbClr val="0000FF"/>
              </a:solidFill>
              <a:latin typeface="Trebuchet MS" pitchFamily="34" charset="0"/>
            </a:endParaRPr>
          </a:p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Mention the feasibility on the same showing the progress.</a:t>
            </a:r>
          </a:p>
        </p:txBody>
      </p:sp>
      <p:sp>
        <p:nvSpPr>
          <p:cNvPr id="14" name="Text Box 34">
            <a:extLst>
              <a:ext uri="{FF2B5EF4-FFF2-40B4-BE49-F238E27FC236}">
                <a16:creationId xmlns:a16="http://schemas.microsoft.com/office/drawing/2014/main" id="{C6131D96-1223-C722-D8C5-460375546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990600"/>
            <a:ext cx="784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  <a:sym typeface="Trebuchet MS"/>
              </a:rPr>
              <a:t>Suggestions from Review – 1</a:t>
            </a:r>
          </a:p>
        </p:txBody>
      </p:sp>
    </p:spTree>
    <p:extLst>
      <p:ext uri="{BB962C8B-B14F-4D97-AF65-F5344CB8AC3E}">
        <p14:creationId xmlns:p14="http://schemas.microsoft.com/office/powerpoint/2010/main" val="3588208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295400" y="1747730"/>
            <a:ext cx="8077200" cy="4211931"/>
          </a:xfrm>
          <a:prstGeom prst="rect">
            <a:avLst/>
          </a:prstGeom>
        </p:spPr>
        <p:txBody>
          <a:bodyPr/>
          <a:lstStyle/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Provide the suggestions and remarks given by the Guide. </a:t>
            </a:r>
          </a:p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IN" sz="2400" kern="0" dirty="0">
              <a:solidFill>
                <a:srgbClr val="0000FF"/>
              </a:solidFill>
              <a:latin typeface="Trebuchet MS" pitchFamily="34" charset="0"/>
            </a:endParaRPr>
          </a:p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Mention the feasibility on the same showing the progress.</a:t>
            </a: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895600" y="990600"/>
            <a:ext cx="784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  <a:sym typeface="Trebuchet MS"/>
              </a:rPr>
              <a:t>Suggestions from Review – 2</a:t>
            </a:r>
          </a:p>
        </p:txBody>
      </p:sp>
    </p:spTree>
    <p:extLst>
      <p:ext uri="{BB962C8B-B14F-4D97-AF65-F5344CB8AC3E}">
        <p14:creationId xmlns:p14="http://schemas.microsoft.com/office/powerpoint/2010/main" val="4205369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Analysis and Critique of Research/Relevance -Application in Real world</a:t>
            </a:r>
          </a:p>
        </p:txBody>
      </p:sp>
      <p:sp>
        <p:nvSpPr>
          <p:cNvPr id="47" name="Google Shape;47;p6"/>
          <p:cNvSpPr txBox="1"/>
          <p:nvPr/>
        </p:nvSpPr>
        <p:spPr>
          <a:xfrm>
            <a:off x="3044456" y="6172200"/>
            <a:ext cx="10439400" cy="277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53EC64-E433-0954-A4AE-F5E1F15A8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256" y="371543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1B4B12-5EC3-F5E9-129A-69E1C7CDF65D}"/>
              </a:ext>
            </a:extLst>
          </p:cNvPr>
          <p:cNvSpPr txBox="1"/>
          <p:nvPr/>
        </p:nvSpPr>
        <p:spPr>
          <a:xfrm>
            <a:off x="2438400" y="2055900"/>
            <a:ext cx="6742322" cy="3929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sz="18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Analysis and Critique of Research:</a:t>
            </a:r>
          </a:p>
          <a:p>
            <a:pPr marL="285750" indent="-28575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Evaluates the strengths and weaknesses of existing research.</a:t>
            </a:r>
          </a:p>
          <a:p>
            <a:pPr marL="285750" indent="-28575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Identifies gaps, inconsistencies, or potential improvements.</a:t>
            </a:r>
          </a:p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sz="18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Relevance:</a:t>
            </a:r>
          </a:p>
          <a:p>
            <a:pPr marL="285750" indent="-28575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Examines whether the research aligns with current challenges and industry needs.</a:t>
            </a:r>
          </a:p>
          <a:p>
            <a:pPr marL="285750" indent="-28575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Assesses how impactful the research is within its domain.</a:t>
            </a:r>
          </a:p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sz="18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in the Real World:</a:t>
            </a:r>
          </a:p>
          <a:p>
            <a:pPr marL="285750" indent="-28575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Determines how the research findings can be implemented practically.</a:t>
            </a:r>
          </a:p>
          <a:p>
            <a:pPr marL="285750" indent="-28575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Explores use cases, scalability, and feasibility in real-world scenarios.</a:t>
            </a:r>
          </a:p>
        </p:txBody>
      </p:sp>
    </p:spTree>
    <p:extLst>
      <p:ext uri="{BB962C8B-B14F-4D97-AF65-F5344CB8AC3E}">
        <p14:creationId xmlns:p14="http://schemas.microsoft.com/office/powerpoint/2010/main" val="3167076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high-level design</a:t>
            </a:r>
            <a:endParaRPr lang="en-US" sz="2400" dirty="0"/>
          </a:p>
        </p:txBody>
      </p:sp>
      <p:sp>
        <p:nvSpPr>
          <p:cNvPr id="54" name="Google Shape;54;p7"/>
          <p:cNvSpPr txBox="1"/>
          <p:nvPr/>
        </p:nvSpPr>
        <p:spPr>
          <a:xfrm>
            <a:off x="2114900" y="1791525"/>
            <a:ext cx="8553100" cy="377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Provide high-level design view of the system.</a:t>
            </a:r>
          </a:p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Identify the logical user groups, application components, data components, and interfacing systems. Illustrate the collaboration and interaction between the major components.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3048000" y="1581151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/>
          <p:cNvSpPr txBox="1"/>
          <p:nvPr/>
        </p:nvSpPr>
        <p:spPr>
          <a:xfrm>
            <a:off x="2895600" y="1143001"/>
            <a:ext cx="7772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endParaRPr lang="en-US" sz="2400" dirty="0"/>
          </a:p>
        </p:txBody>
      </p:sp>
      <p:sp>
        <p:nvSpPr>
          <p:cNvPr id="62" name="Google Shape;62;p8"/>
          <p:cNvSpPr txBox="1"/>
          <p:nvPr/>
        </p:nvSpPr>
        <p:spPr>
          <a:xfrm>
            <a:off x="2029650" y="1617675"/>
            <a:ext cx="9019350" cy="47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endParaRPr lang="en-US" sz="2400" dirty="0">
              <a:solidFill>
                <a:srgbClr val="0033CC"/>
              </a:solidFill>
            </a:endParaRPr>
          </a:p>
        </p:txBody>
      </p:sp>
      <p:sp>
        <p:nvSpPr>
          <p:cNvPr id="2" name="Google Shape;53;p7">
            <a:extLst>
              <a:ext uri="{FF2B5EF4-FFF2-40B4-BE49-F238E27FC236}">
                <a16:creationId xmlns:a16="http://schemas.microsoft.com/office/drawing/2014/main" id="{4AD8EAA6-9264-448D-B05D-A7D097EAA502}"/>
              </a:ext>
            </a:extLst>
          </p:cNvPr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methodology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805BF0-084D-5383-FE33-E290DDF43C53}"/>
              </a:ext>
            </a:extLst>
          </p:cNvPr>
          <p:cNvSpPr txBox="1"/>
          <p:nvPr/>
        </p:nvSpPr>
        <p:spPr>
          <a:xfrm>
            <a:off x="3048918" y="2490471"/>
            <a:ext cx="6097836" cy="987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sz="18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Technology Selection – Choose programming language, tools, and frameworks.</a:t>
            </a:r>
          </a:p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Apart from this add other components related to project</a:t>
            </a:r>
            <a:endParaRPr lang="en-US" sz="18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34"/>
          <p:cNvSpPr txBox="1">
            <a:spLocks noChangeArrowheads="1"/>
          </p:cNvSpPr>
          <p:nvPr/>
        </p:nvSpPr>
        <p:spPr bwMode="auto">
          <a:xfrm>
            <a:off x="1905000" y="1143002"/>
            <a:ext cx="87630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Progress-Data Preprocessing and Base model implementation</a:t>
            </a:r>
          </a:p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endParaRPr lang="en-US" sz="24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981200" y="1752600"/>
            <a:ext cx="8229600" cy="4724400"/>
          </a:xfrm>
          <a:prstGeom prst="rect">
            <a:avLst/>
          </a:prstGeo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the project progress so far?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Minimum 20% implementation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EFAC8-E554-32A2-BB12-9D83E7755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64AC014-F06E-8375-F747-8075E75E9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34">
            <a:extLst>
              <a:ext uri="{FF2B5EF4-FFF2-40B4-BE49-F238E27FC236}">
                <a16:creationId xmlns:a16="http://schemas.microsoft.com/office/drawing/2014/main" id="{3030717F-F456-6442-1B28-E3D2DDB34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143002"/>
            <a:ext cx="8763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Individual Contribution</a:t>
            </a:r>
            <a:endParaRPr lang="en-US" sz="24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2238785-1325-419C-E83F-AA3D12B884F2}"/>
              </a:ext>
            </a:extLst>
          </p:cNvPr>
          <p:cNvSpPr txBox="1">
            <a:spLocks/>
          </p:cNvSpPr>
          <p:nvPr/>
        </p:nvSpPr>
        <p:spPr>
          <a:xfrm>
            <a:off x="1981200" y="1752600"/>
            <a:ext cx="8229600" cy="4724400"/>
          </a:xfrm>
          <a:prstGeom prst="rect">
            <a:avLst/>
          </a:prstGeo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174743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Any other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2133601" y="1905001"/>
            <a:ext cx="8839199" cy="216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891" indent="12700" algn="just" eaLnBrk="0" hangingPunct="0">
              <a:spcBef>
                <a:spcPct val="20000"/>
              </a:spcBef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Provide any other information you wish to add on.</a:t>
            </a:r>
          </a:p>
          <a:p>
            <a:pPr marL="342891" indent="12700" algn="just" eaLnBrk="0" hangingPunct="0">
              <a:spcBef>
                <a:spcPct val="20000"/>
              </a:spcBef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 </a:t>
            </a:r>
          </a:p>
          <a:p>
            <a:pPr marL="342891" indent="12700" algn="just" eaLnBrk="0" hangingPunct="0">
              <a:spcBef>
                <a:spcPct val="20000"/>
              </a:spcBef>
              <a:defRPr/>
            </a:pPr>
            <a:endParaRPr lang="en-IN" sz="2400" kern="0" dirty="0">
              <a:solidFill>
                <a:srgbClr val="0000FF"/>
              </a:solidFill>
              <a:latin typeface="Trebuchet MS" pitchFamily="34" charset="0"/>
            </a:endParaRPr>
          </a:p>
          <a:p>
            <a:pPr marL="342891" indent="12700" algn="just" eaLnBrk="0" hangingPunct="0">
              <a:spcBef>
                <a:spcPct val="20000"/>
              </a:spcBef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Note: Changes can be made in the template, with the consent of the guide for inclusion of any other information.</a:t>
            </a:r>
            <a:endParaRPr lang="en-IN" sz="2400" kern="0" dirty="0">
              <a:latin typeface="Trebuchet MS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19400" y="964777"/>
            <a:ext cx="8458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dirty="0">
                <a:solidFill>
                  <a:srgbClr val="FF0000"/>
                </a:solidFill>
                <a:latin typeface="Trebuchet MS"/>
              </a:rPr>
              <a:t>Capstone (Phase-I Phase-II and Phase III) Project Timeline</a:t>
            </a:r>
            <a:endParaRPr lang="en-US" sz="2400" dirty="0">
              <a:solidFill>
                <a:srgbClr val="FF0000"/>
              </a:solidFill>
              <a:latin typeface="Trebuchet M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1066800" y="2003213"/>
            <a:ext cx="8839199" cy="2825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Provide </a:t>
            </a:r>
          </a:p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The timelines for execution of the project through Gantt chart.</a:t>
            </a:r>
          </a:p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The plan in terms of efforts by individuals in the team. </a:t>
            </a:r>
          </a:p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Mention the tasks involved in different stages.</a:t>
            </a:r>
          </a:p>
          <a:p>
            <a:pPr marL="1077913" lvl="1" indent="-265113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IN" sz="2400" dirty="0">
              <a:solidFill>
                <a:srgbClr val="0033CC"/>
              </a:solidFill>
              <a:latin typeface="Trebuchet MS"/>
            </a:endParaRPr>
          </a:p>
          <a:p>
            <a:pPr marL="1077913" lvl="1" indent="-265113" algn="just" eaLnBrk="0" hangingPunct="0">
              <a:spcBef>
                <a:spcPct val="20000"/>
              </a:spcBef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940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2133601" y="1905001"/>
            <a:ext cx="883919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Summarize the key points.</a:t>
            </a: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786535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References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828800" y="1828800"/>
            <a:ext cx="8458200" cy="4724400"/>
          </a:xfrm>
          <a:prstGeom prst="rect">
            <a:avLst/>
          </a:prstGeom>
        </p:spPr>
        <p:txBody>
          <a:bodyPr/>
          <a:lstStyle/>
          <a:p>
            <a:pPr marL="342900" indent="12700" algn="just" eaLnBrk="0" hangingPunct="0">
              <a:spcBef>
                <a:spcPct val="20000"/>
              </a:spcBef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  <a:p>
            <a:pPr marL="342900" indent="12700" algn="just" eaLnBrk="0" hangingPunct="0">
              <a:spcBef>
                <a:spcPct val="20000"/>
              </a:spcBef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  <a:p>
            <a:pPr marL="342900" indent="12700" algn="just" eaLnBrk="0" hangingPunct="0">
              <a:spcBef>
                <a:spcPct val="20000"/>
              </a:spcBef>
              <a:defRPr/>
            </a:pPr>
            <a:r>
              <a:rPr lang="en-IN" sz="2400" dirty="0">
                <a:solidFill>
                  <a:srgbClr val="0000FF"/>
                </a:solidFill>
                <a:latin typeface="Trebuchet MS" pitchFamily="34" charset="0"/>
              </a:rPr>
              <a:t>Provide references pertaining to your research according to IEEE format.</a:t>
            </a:r>
          </a:p>
          <a:p>
            <a:pPr marL="1077913" lvl="1" indent="-265113" algn="just" eaLnBrk="0" hangingPunct="0">
              <a:spcBef>
                <a:spcPct val="20000"/>
              </a:spcBef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defRPr/>
            </a:pPr>
            <a:endParaRPr lang="en-IN" sz="2000" kern="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727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71485" y="3352800"/>
            <a:ext cx="250658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4000" dirty="0">
                <a:solidFill>
                  <a:srgbClr val="FF0000"/>
                </a:solidFill>
                <a:latin typeface="Trebuchet MS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pstone Project - Review 3 - Template.pptx" id="{77E64785-C4AC-D447-9F20-AA3556BA4DEA}" vid="{211B08FD-A304-1146-A3C3-5229E601B3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Capstone Project - Review 3 - Template (1)</Template>
  <TotalTime>516</TotalTime>
  <Words>405</Words>
  <Application>Microsoft Office PowerPoint</Application>
  <PresentationFormat>Widescreen</PresentationFormat>
  <Paragraphs>81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Trebuchet MS</vt:lpstr>
      <vt:lpstr>Wingdings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KTwo Technology Solutions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Sunitha R</dc:creator>
  <cp:lastModifiedBy>prajwala talanki</cp:lastModifiedBy>
  <cp:revision>166</cp:revision>
  <dcterms:created xsi:type="dcterms:W3CDTF">2020-11-22T08:14:37Z</dcterms:created>
  <dcterms:modified xsi:type="dcterms:W3CDTF">2026-04-07T08:54:49Z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